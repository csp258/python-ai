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56" r:id="rId3"/>
    <p:sldId id="257" r:id="rId5"/>
    <p:sldId id="546" r:id="rId6"/>
    <p:sldId id="753" r:id="rId7"/>
    <p:sldId id="754" r:id="rId8"/>
    <p:sldId id="642" r:id="rId9"/>
    <p:sldId id="739" r:id="rId10"/>
    <p:sldId id="713" r:id="rId11"/>
    <p:sldId id="714" r:id="rId12"/>
    <p:sldId id="728" r:id="rId13"/>
    <p:sldId id="729" r:id="rId14"/>
    <p:sldId id="730" r:id="rId15"/>
    <p:sldId id="679" r:id="rId16"/>
    <p:sldId id="710" r:id="rId17"/>
    <p:sldId id="712" r:id="rId18"/>
    <p:sldId id="711" r:id="rId19"/>
    <p:sldId id="771" r:id="rId20"/>
    <p:sldId id="772" r:id="rId21"/>
    <p:sldId id="796" r:id="rId22"/>
    <p:sldId id="797" r:id="rId23"/>
    <p:sldId id="773" r:id="rId24"/>
    <p:sldId id="802" r:id="rId25"/>
    <p:sldId id="803" r:id="rId26"/>
    <p:sldId id="804" r:id="rId27"/>
    <p:sldId id="805" r:id="rId28"/>
    <p:sldId id="808" r:id="rId29"/>
    <p:sldId id="816" r:id="rId30"/>
    <p:sldId id="817" r:id="rId31"/>
    <p:sldId id="818" r:id="rId32"/>
    <p:sldId id="774" r:id="rId33"/>
    <p:sldId id="726" r:id="rId34"/>
    <p:sldId id="278" r:id="rId35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1" userDrawn="1">
          <p15:clr>
            <a:srgbClr val="A4A3A4"/>
          </p15:clr>
        </p15:guide>
        <p15:guide id="2" pos="378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8" clrIdx="0"/>
  <p:cmAuthor id="1" name="Lv0593" initials="L" lastIdx="14" clrIdx="1"/>
  <p:cmAuthor id="2" name="甘金龙" initials="甘金龙" lastIdx="1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5F55"/>
    <a:srgbClr val="5F9387"/>
    <a:srgbClr val="F2C06B"/>
    <a:srgbClr val="97A6AB"/>
    <a:srgbClr val="C41349"/>
    <a:srgbClr val="FFF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-402" y="-1608"/>
      </p:cViewPr>
      <p:guideLst>
        <p:guide orient="horz" pos="2231"/>
        <p:guide pos="378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64.xml"/><Relationship Id="rId4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C0D6D-A908-48C6-983D-90F2BD11E2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BB924-28C1-4EF7-A019-613D541E4A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(1)n_components</a:t>
            </a:r>
            <a:endParaRPr lang="zh-CN" altLang="en-US"/>
          </a:p>
          <a:p>
            <a:r>
              <a:rPr lang="zh-CN" altLang="en-US"/>
              <a:t>意义：PCA 算法中所要保留的主成分个数n，即保留下来的特征个数。</a:t>
            </a:r>
            <a:endParaRPr lang="zh-CN" altLang="en-US"/>
          </a:p>
          <a:p>
            <a:r>
              <a:rPr lang="zh-CN" altLang="en-US"/>
              <a:t>类型：int或者string，缺省时默认为 None，所有成分被保留。赋值为int，比如 n_components=l，将把原始数据降到一个维度；赋值为string，比如n_components=’mle’，将自动选取特征个数n，使得满足所要求的方差百分比。</a:t>
            </a:r>
            <a:endParaRPr lang="zh-CN" altLang="en-US"/>
          </a:p>
          <a:p>
            <a:r>
              <a:rPr lang="zh-CN" altLang="en-US"/>
              <a:t>(2)copy</a:t>
            </a:r>
            <a:endParaRPr lang="zh-CN" altLang="en-US"/>
          </a:p>
          <a:p>
            <a:r>
              <a:rPr lang="zh-CN" altLang="en-US"/>
              <a:t>类型：bool，True或者False，缺省时默认为True。</a:t>
            </a:r>
            <a:endParaRPr lang="zh-CN" altLang="en-US"/>
          </a:p>
          <a:p>
            <a:r>
              <a:rPr lang="zh-CN" altLang="en-US"/>
              <a:t>意义：表示是否在运行算法时，将原始训练数据复制一份。若为 True，则运行 PCA 算法后，原始训练数据的值不会有任何改变，因为这是在原始数据的副本上进行运算；若为 False，则运行 PCA算法后，原始训练数据的值会改变，因为是在原始数据上进行降维计算。</a:t>
            </a:r>
            <a:endParaRPr lang="zh-CN" altLang="en-US"/>
          </a:p>
          <a:p>
            <a:r>
              <a:rPr lang="zh-CN" altLang="en-US"/>
              <a:t>(3)whiten  </a:t>
            </a:r>
            <a:endParaRPr lang="zh-CN" altLang="en-US"/>
          </a:p>
          <a:p>
            <a:r>
              <a:rPr lang="zh-CN" altLang="en-US"/>
              <a:t>类型：bool，缺省时默认为False。</a:t>
            </a:r>
            <a:endParaRPr lang="zh-CN" altLang="en-US"/>
          </a:p>
          <a:p>
            <a:r>
              <a:rPr lang="zh-CN" altLang="en-US"/>
              <a:t>意义。白化，使得每个特征具有相同的方差。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-397123" y="-538250"/>
            <a:ext cx="2555690" cy="2277867"/>
            <a:chOff x="-1344978" y="-685187"/>
            <a:chExt cx="6781080" cy="6043921"/>
          </a:xfrm>
        </p:grpSpPr>
        <p:sp>
          <p:nvSpPr>
            <p:cNvPr id="42" name="椭圆 41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5" name="直接连接符 54"/>
          <p:cNvCxnSpPr/>
          <p:nvPr userDrawn="1"/>
        </p:nvCxnSpPr>
        <p:spPr>
          <a:xfrm>
            <a:off x="2593542" y="804428"/>
            <a:ext cx="82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 userDrawn="1"/>
        </p:nvSpPr>
        <p:spPr>
          <a:xfrm rot="16200000">
            <a:off x="644651" y="525424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 rot="16200000">
            <a:off x="2078817" y="6403894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 rot="16200000">
            <a:off x="3817256" y="5935311"/>
            <a:ext cx="1318720" cy="131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 rot="16200000">
            <a:off x="4925647" y="6645920"/>
            <a:ext cx="1947513" cy="1947513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 rot="16200000">
            <a:off x="-208096" y="4762428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 rot="16200000">
            <a:off x="6635340" y="6243404"/>
            <a:ext cx="1130239" cy="1130239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/>
        </p:nvSpPr>
        <p:spPr>
          <a:xfrm rot="16200000">
            <a:off x="7357899" y="5524708"/>
            <a:ext cx="2798256" cy="27982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 userDrawn="1"/>
        </p:nvSpPr>
        <p:spPr>
          <a:xfrm rot="16200000">
            <a:off x="7991706" y="6582879"/>
            <a:ext cx="1351188" cy="13511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/>
        </p:nvSpPr>
        <p:spPr>
          <a:xfrm rot="16200000">
            <a:off x="9125925" y="4862025"/>
            <a:ext cx="1894088" cy="1894088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/>
        </p:nvSpPr>
        <p:spPr>
          <a:xfrm rot="16200000">
            <a:off x="10510752" y="5474419"/>
            <a:ext cx="1894088" cy="1894088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/>
        </p:nvSpPr>
        <p:spPr>
          <a:xfrm rot="16200000">
            <a:off x="5908155" y="567101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 rot="16200000">
            <a:off x="6480603" y="6497251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16200000">
            <a:off x="5838946" y="6858047"/>
            <a:ext cx="334678" cy="3346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 rot="16200000">
            <a:off x="5711165" y="5089878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 rot="16200000">
            <a:off x="7090639" y="5089877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-388233" y="-538250"/>
            <a:ext cx="2555690" cy="2277867"/>
            <a:chOff x="-1344978" y="-685187"/>
            <a:chExt cx="6781080" cy="6043921"/>
          </a:xfrm>
        </p:grpSpPr>
        <p:sp>
          <p:nvSpPr>
            <p:cNvPr id="42" name="椭圆 41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55" name="直接连接符 54"/>
          <p:cNvCxnSpPr/>
          <p:nvPr userDrawn="1"/>
        </p:nvCxnSpPr>
        <p:spPr>
          <a:xfrm>
            <a:off x="2593542" y="804428"/>
            <a:ext cx="82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程序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fld id="{376F0B09-1AF6-4F22-B304-52F7D4F1CF7A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8" name="直接连接符 19"/>
          <p:cNvCxnSpPr/>
          <p:nvPr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4"/>
          <p:cNvCxnSpPr/>
          <p:nvPr/>
        </p:nvCxnSpPr>
        <p:spPr>
          <a:xfrm flipV="1">
            <a:off x="450215" y="6508750"/>
            <a:ext cx="9488170" cy="635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246063" y="915988"/>
            <a:ext cx="9596438" cy="4603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9842500" y="915988"/>
            <a:ext cx="1989138" cy="4603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3819" y="1817174"/>
            <a:ext cx="11107601" cy="4339721"/>
          </a:xfrm>
        </p:spPr>
        <p:txBody>
          <a:bodyPr>
            <a:noAutofit/>
          </a:bodyPr>
          <a:lstStyle>
            <a:lvl1pPr marL="362585" indent="-362585">
              <a:lnSpc>
                <a:spcPct val="150000"/>
              </a:lnSpc>
              <a:buClr>
                <a:srgbClr val="032089"/>
              </a:buClr>
              <a:buFont typeface="Arial" panose="020B0604020202020204" pitchFamily="34" charset="0"/>
              <a:buChar char="•"/>
              <a:defRPr sz="1800" b="0">
                <a:latin typeface="Lucida Console" panose="020B0609040504020204" pitchFamily="49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423819" y="1138980"/>
            <a:ext cx="11107601" cy="42646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95EDEF-FB04-4CA9-841B-66EFF16887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flipV="1">
            <a:off x="0" y="757553"/>
            <a:ext cx="12192000" cy="76201"/>
          </a:xfrm>
          <a:prstGeom prst="rect">
            <a:avLst/>
          </a:prstGeom>
          <a:gradFill>
            <a:gsLst>
              <a:gs pos="100000">
                <a:srgbClr val="FBD786"/>
              </a:gs>
              <a:gs pos="0">
                <a:srgbClr val="00416A">
                  <a:alpha val="94902"/>
                </a:srgbClr>
              </a:gs>
              <a:gs pos="40000">
                <a:srgbClr val="E4E5E6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634901"/>
            <a:ext cx="12192000" cy="223099"/>
          </a:xfrm>
          <a:prstGeom prst="rect">
            <a:avLst/>
          </a:prstGeom>
          <a:gradFill flip="none" rotWithShape="1">
            <a:gsLst>
              <a:gs pos="99000">
                <a:srgbClr val="00416A"/>
              </a:gs>
              <a:gs pos="0">
                <a:srgbClr val="E4E5E6"/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86489" y="6603299"/>
            <a:ext cx="2448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初心至善 匠心育人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9163935" y="6582979"/>
            <a:ext cx="3028066" cy="30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锋云智慧官网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www.fengyunedu.cn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56" y="160055"/>
            <a:ext cx="1527325" cy="46157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.xml"/><Relationship Id="rId2" Type="http://schemas.openxmlformats.org/officeDocument/2006/relationships/image" Target="../media/image5.png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png"/><Relationship Id="rId7" Type="http://schemas.openxmlformats.org/officeDocument/2006/relationships/image" Target="../media/image12.wmf"/><Relationship Id="rId6" Type="http://schemas.openxmlformats.org/officeDocument/2006/relationships/image" Target="../media/image11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image" Target="../media/image15.wmf"/><Relationship Id="rId1" Type="http://schemas.openxmlformats.org/officeDocument/2006/relationships/tags" Target="../tags/tag2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523550" y="-312516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636233" y="-144876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203585" y="1571529"/>
            <a:ext cx="1318720" cy="131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-135807" y="2481617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79844" y="28338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439315" y="-685187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34654" y="4228500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34652" y="4429124"/>
            <a:ext cx="2798256" cy="27982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23551" y="5404455"/>
            <a:ext cx="1351188" cy="13511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374762" y="5533920"/>
            <a:ext cx="1894088" cy="18940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972588" y="5808599"/>
            <a:ext cx="1894088" cy="189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334452" y="373396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080662" y="4306415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630608" y="375401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488036" y="353697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242616" y="491645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4488040" y="15675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619240" y="3049905"/>
            <a:ext cx="53746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4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sz="4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</a:t>
            </a:r>
            <a:endParaRPr lang="zh-CN" sz="4800" b="1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619828" y="4054567"/>
            <a:ext cx="465410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619828" y="4229222"/>
            <a:ext cx="431882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数据科学与大数据技术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                                             </a:t>
            </a:r>
            <a:r>
              <a:rPr lang="zh-CN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关可欣</a:t>
            </a:r>
            <a:endParaRPr lang="zh-CN" altLang="en-US" sz="1400" dirty="0" err="1">
              <a:solidFill>
                <a:schemeClr val="tx1">
                  <a:lumMod val="50000"/>
                  <a:lumOff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06995" y="156845"/>
            <a:ext cx="4286885" cy="13004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39280" y="2514144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2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870980" y="3397712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144832" y="2491967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重塑分层索引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776532" y="3380886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降采样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-397123" y="-538250"/>
            <a:ext cx="2555690" cy="2296167"/>
            <a:chOff x="-1344978" y="-685187"/>
            <a:chExt cx="6781080" cy="6092478"/>
          </a:xfrm>
        </p:grpSpPr>
        <p:sp>
          <p:nvSpPr>
            <p:cNvPr id="41" name="椭圆 40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2625707" y="3733966"/>
              <a:ext cx="817868" cy="81786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2371916" y="4306414"/>
              <a:ext cx="245420" cy="2454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921862" y="3754016"/>
              <a:ext cx="245420" cy="2454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3779290" y="3536976"/>
              <a:ext cx="245420" cy="24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3533870" y="4916451"/>
              <a:ext cx="490840" cy="4908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2593542" y="804428"/>
            <a:ext cx="82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2593383" y="312528"/>
            <a:ext cx="4690556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591705" y="1640384"/>
            <a:ext cx="1192190" cy="613062"/>
            <a:chOff x="2215144" y="982844"/>
            <a:chExt cx="1244730" cy="842780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497257" y="1618207"/>
            <a:ext cx="5142331" cy="613062"/>
            <a:chOff x="4315150" y="953426"/>
            <a:chExt cx="3857250" cy="540057"/>
          </a:xfrm>
        </p:grpSpPr>
        <p:sp>
          <p:nvSpPr>
            <p:cNvPr id="12" name="矩形 11"/>
            <p:cNvSpPr/>
            <p:nvPr/>
          </p:nvSpPr>
          <p:spPr>
            <a:xfrm>
              <a:off x="4841196" y="1036090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数据规约概述</a:t>
              </a:r>
              <a:endPara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572530" y="4260677"/>
            <a:ext cx="1192190" cy="618406"/>
            <a:chOff x="2215144" y="2026500"/>
            <a:chExt cx="1244730" cy="850129"/>
          </a:xfrm>
        </p:grpSpPr>
        <p:sp>
          <p:nvSpPr>
            <p:cNvPr id="21" name="平行四边形 20"/>
            <p:cNvSpPr/>
            <p:nvPr>
              <p:custDataLst>
                <p:tags r:id="rId1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2393075" y="2026500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478082" y="4243851"/>
            <a:ext cx="5142331" cy="613062"/>
            <a:chOff x="4315150" y="1647579"/>
            <a:chExt cx="3857250" cy="540057"/>
          </a:xfrm>
        </p:grpSpPr>
        <p:sp>
          <p:nvSpPr>
            <p:cNvPr id="24" name="矩形 23"/>
            <p:cNvSpPr/>
            <p:nvPr>
              <p:custDataLst>
                <p:tags r:id="rId3"/>
              </p:custDataLst>
            </p:nvPr>
          </p:nvSpPr>
          <p:spPr>
            <a:xfrm>
              <a:off x="4841196" y="1730243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PCA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降维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4"/>
              </p:custDataLst>
            </p:nvPr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数据规约概述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322705" y="1299210"/>
            <a:ext cx="9827260" cy="1818640"/>
          </a:xfrm>
        </p:spPr>
        <p:txBody>
          <a:bodyPr/>
          <a:p>
            <a:pPr marL="0" indent="0" algn="just">
              <a:lnSpc>
                <a:spcPct val="140000"/>
              </a:lnSpc>
              <a:buNone/>
            </a:pPr>
            <a:r>
              <a:rPr lang="zh-CN" altLang="zh-CN" sz="2400" b="1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数据规约技术</a:t>
            </a: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可以用来得到数据集的规约表示，数据集</a:t>
            </a: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变小，但并不影响原数据的完整性，其分析结果与规约前结果相同或几乎相同。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因此，数据规约是指在尽可能保持数据原貌的前提下，最大限度地精简数据量保持数据的原始状态。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2964815" y="266700"/>
            <a:ext cx="313118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据规约概述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64815" y="266700"/>
            <a:ext cx="313118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据规约概述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05255" y="3429000"/>
            <a:ext cx="8280400" cy="2094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zh-CN" sz="2400" b="1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数据规约的意义：</a:t>
            </a:r>
            <a:endParaRPr lang="zh-CN" altLang="zh-CN" sz="2400" b="1" dirty="0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降低无效、错误数据对建模的影响，提高建模的准确性。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少量且具代表性的数据将大幅缩减数据挖掘所需的时间。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降低储存数据的成本。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405255" y="1224280"/>
            <a:ext cx="96462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zh-CN" sz="2400" b="1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数据规约可以理解为：</a:t>
            </a:r>
            <a:endParaRPr lang="zh-CN" altLang="zh-CN" sz="2400" b="1" dirty="0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减少属性个数→降维→属性规约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减少样本量→数值规约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" grpId="1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重塑分层索引</a:t>
            </a:r>
            <a:endParaRPr lang="zh-CN" altLang="zh-CN" sz="32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塑分层索引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45250" y="5130177"/>
            <a:ext cx="292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重塑前后的对比效果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12502" y="1171613"/>
            <a:ext cx="10583256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 algn="just">
              <a:lnSpc>
                <a:spcPct val="150000"/>
              </a:lnSpc>
              <a:buClr>
                <a:schemeClr val="tx1"/>
              </a:buClr>
            </a:pP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重塑分层索引是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中简单的维度规约操作，该操作主要会</a:t>
            </a:r>
            <a:r>
              <a:rPr lang="zh-CN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DataFrame</a:t>
            </a:r>
            <a:r>
              <a:rPr lang="zh-CN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类对象的列索引转换为行索引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，生成一个具有分层索引的结果对象。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7104083" y="3340356"/>
            <a:ext cx="4175691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起初是一个只有单层索引的二维数据，其经过重塑分层索引操作之后</a:t>
            </a:r>
            <a:r>
              <a:rPr lang="zh-CN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个有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引结构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对象。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" b="3590"/>
          <a:stretch>
            <a:fillRect/>
          </a:stretch>
        </p:blipFill>
        <p:spPr bwMode="auto">
          <a:xfrm>
            <a:off x="1920468" y="2798223"/>
            <a:ext cx="4175690" cy="222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标注 12"/>
          <p:cNvSpPr/>
          <p:nvPr/>
        </p:nvSpPr>
        <p:spPr>
          <a:xfrm>
            <a:off x="6887845" y="3021965"/>
            <a:ext cx="4607560" cy="3380740"/>
          </a:xfrm>
          <a:prstGeom prst="wedgeRectCallout">
            <a:avLst>
              <a:gd name="adj1" fmla="val -63829"/>
              <a:gd name="adj2" fmla="val -28133"/>
            </a:avLst>
          </a:prstGeom>
          <a:noFill/>
          <a:ln w="12700">
            <a:solidFill>
              <a:srgbClr val="CF5F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0" y="1058545"/>
            <a:ext cx="10492740" cy="372491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72465" y="4953000"/>
            <a:ext cx="103943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stack：将列索引旋转为行索引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，即将二维表转化为一维表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unstack：将行索引旋转为列索引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，即将一维表转化为二维表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itle 1"/>
          <p:cNvSpPr txBox="1"/>
          <p:nvPr>
            <p:custDataLst>
              <p:tags r:id="rId3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塑分层索引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>
            <p:custDataLst>
              <p:tags r:id="rId1"/>
            </p:custDataLst>
          </p:nvPr>
        </p:nvSpPr>
        <p:spPr>
          <a:xfrm>
            <a:off x="3670935" y="1375410"/>
            <a:ext cx="6899275" cy="34734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>
            <a:noAutofit/>
          </a:bodyPr>
          <a:p>
            <a:pPr indent="266700" algn="ctr"/>
            <a:r>
              <a:rPr lang="en-US" sz="2400" b="0">
                <a:latin typeface="Courier New" panose="02070309020205020404" charset="0"/>
                <a:ea typeface="宋体" panose="02010600030101010101" pitchFamily="2" charset="-122"/>
                <a:cs typeface="宋体" panose="02010600030101010101" pitchFamily="2" charset="-122"/>
              </a:rPr>
              <a:t>stack(self, level=-1, dropna=True)</a:t>
            </a:r>
            <a:endParaRPr lang="en-US" altLang="en-US" sz="2400" b="0">
              <a:latin typeface="Courier New" panose="020703090202050204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06525" y="1236980"/>
            <a:ext cx="32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 b="1">
                <a:sym typeface="+mn-ea"/>
              </a:rPr>
              <a:t>stack()语法格式：</a:t>
            </a:r>
            <a:endParaRPr lang="zh-CN" altLang="en-US" sz="2400" b="1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714375" y="2031365"/>
          <a:ext cx="1082992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445"/>
                <a:gridCol w="95554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参数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说明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3689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Level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表示操作内层索引。若设为0，表示操作外层索引，默认为-1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dropna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表示是否将旋转后的缺失值删除，若设为True，则表示自动过滤缺失值，设置False则相反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4076700" y="1186815"/>
            <a:ext cx="6412865" cy="724535"/>
          </a:xfrm>
          <a:prstGeom prst="roundRect">
            <a:avLst/>
          </a:prstGeom>
          <a:noFill/>
          <a:ln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406525" y="4261485"/>
            <a:ext cx="97720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en-US" altLang="zh-CN" sz="2400" b="1">
                <a:sym typeface="+mn-ea"/>
              </a:rPr>
              <a:t>un</a:t>
            </a:r>
            <a:r>
              <a:rPr lang="zh-CN" altLang="en-US" sz="2400" b="1">
                <a:sym typeface="+mn-ea"/>
              </a:rPr>
              <a:t>stack()语法格式：</a:t>
            </a:r>
            <a:endParaRPr lang="zh-CN" altLang="en-US" sz="2400" b="1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3597910" y="4541520"/>
            <a:ext cx="8594090" cy="34734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>
            <a:noAutofit/>
          </a:bodyPr>
          <a:p>
            <a:pPr indent="266700" algn="ctr"/>
            <a:r>
              <a:rPr lang="en-US" sz="2400" b="0">
                <a:latin typeface="Courier New" panose="02070309020205020404" charset="0"/>
                <a:ea typeface="宋体" panose="02010600030101010101" pitchFamily="2" charset="-122"/>
                <a:cs typeface="宋体" panose="02010600030101010101" pitchFamily="2" charset="-122"/>
              </a:rPr>
              <a:t>unstack(self, level=-1, fill_value=None)</a:t>
            </a:r>
            <a:endParaRPr lang="en-US" sz="2400" b="0">
              <a:latin typeface="Courier New" panose="020703090202050204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7"/>
            </p:custDataLst>
          </p:nvPr>
        </p:nvGraphicFramePr>
        <p:xfrm>
          <a:off x="769620" y="5360035"/>
          <a:ext cx="107251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550"/>
                <a:gridCol w="86106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参数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说明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Level</a:t>
                      </a:r>
                      <a:endParaRPr lang="en-US" sz="2400" b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表示操作内层索引。若设为0，表示操作外层索引，默认为-1</a:t>
                      </a:r>
                      <a:endParaRPr 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fill_value</a:t>
                      </a:r>
                      <a:endParaRPr 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若产生了缺失值，则可以设置这个参数用来替换NaN</a:t>
                      </a:r>
                      <a:endParaRPr lang="en-US" sz="240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1" name="圆角矩形 10"/>
          <p:cNvSpPr/>
          <p:nvPr>
            <p:custDataLst>
              <p:tags r:id="rId8"/>
            </p:custDataLst>
          </p:nvPr>
        </p:nvSpPr>
        <p:spPr>
          <a:xfrm>
            <a:off x="4076700" y="4326255"/>
            <a:ext cx="7683500" cy="777875"/>
          </a:xfrm>
          <a:prstGeom prst="roundRect">
            <a:avLst/>
          </a:prstGeom>
          <a:noFill/>
          <a:ln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9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塑分层索引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1"/>
      <p:bldP spid="100" grpId="1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17420" y="1264920"/>
            <a:ext cx="7802880" cy="4328160"/>
          </a:xfrm>
          <a:prstGeom prst="rect">
            <a:avLst/>
          </a:prstGeom>
        </p:spPr>
      </p:pic>
      <p:sp>
        <p:nvSpPr>
          <p:cNvPr id="6" name="Title 1"/>
          <p:cNvSpPr txBox="1"/>
          <p:nvPr>
            <p:custDataLst>
              <p:tags r:id="rId3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塑分层索引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280160"/>
            <a:ext cx="7802880" cy="4297680"/>
          </a:xfrm>
          <a:prstGeom prst="rect">
            <a:avLst/>
          </a:prstGeom>
        </p:spPr>
      </p:pic>
      <p:sp>
        <p:nvSpPr>
          <p:cNvPr id="6" name="Title 1"/>
          <p:cNvSpPr txBox="1"/>
          <p:nvPr>
            <p:custDataLst>
              <p:tags r:id="rId2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塑分层索引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291590"/>
            <a:ext cx="7894320" cy="4274820"/>
          </a:xfrm>
          <a:prstGeom prst="rect">
            <a:avLst/>
          </a:prstGeom>
        </p:spPr>
      </p:pic>
      <p:sp>
        <p:nvSpPr>
          <p:cNvPr id="6" name="Title 1"/>
          <p:cNvSpPr txBox="1"/>
          <p:nvPr>
            <p:custDataLst>
              <p:tags r:id="rId2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塑分层索引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3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降采样</a:t>
            </a:r>
            <a:endParaRPr lang="zh-CN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2992755" y="266700"/>
            <a:ext cx="310324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采样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1838960" y="2360295"/>
            <a:ext cx="821626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降采样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就是降低采样频率，即将高频率采集的数据规约到低频率采集的数据，常用于时间序列类型的数据。如原来每天一采集改为三天一采集，会增大采样的时间粒度且在一定程度上减少了数据量。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717209" y="1321725"/>
            <a:ext cx="5807281" cy="628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200" b="1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2200" b="1" dirty="0" smtClean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是降采样</a:t>
            </a:r>
            <a:endParaRPr lang="zh-CN" altLang="en-US" sz="2200" b="1" dirty="0" smtClean="0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1556636" y="1321726"/>
            <a:ext cx="1007693" cy="595648"/>
          </a:xfrm>
          <a:prstGeom prst="homePlate">
            <a:avLst/>
          </a:prstGeom>
          <a:solidFill>
            <a:srgbClr val="CF5F55"/>
          </a:solidFill>
          <a:ln>
            <a:solidFill>
              <a:srgbClr val="CF5F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过程 8"/>
          <p:cNvSpPr/>
          <p:nvPr/>
        </p:nvSpPr>
        <p:spPr>
          <a:xfrm>
            <a:off x="1556385" y="2257425"/>
            <a:ext cx="8969375" cy="2447925"/>
          </a:xfrm>
          <a:prstGeom prst="flowChartProcess">
            <a:avLst/>
          </a:prstGeom>
          <a:noFill/>
          <a:ln>
            <a:solidFill>
              <a:srgbClr val="CF5F5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41"/>
          <p:cNvSpPr>
            <a:spLocks noEditPoints="1" noChangeArrowheads="1"/>
          </p:cNvSpPr>
          <p:nvPr/>
        </p:nvSpPr>
        <p:spPr bwMode="auto">
          <a:xfrm>
            <a:off x="1717943" y="1433798"/>
            <a:ext cx="414418" cy="346862"/>
          </a:xfrm>
          <a:custGeom>
            <a:avLst/>
            <a:gdLst>
              <a:gd name="T0" fmla="*/ 52 w 105"/>
              <a:gd name="T1" fmla="*/ 14 h 78"/>
              <a:gd name="T2" fmla="*/ 84 w 105"/>
              <a:gd name="T3" fmla="*/ 46 h 78"/>
              <a:gd name="T4" fmla="*/ 84 w 105"/>
              <a:gd name="T5" fmla="*/ 50 h 78"/>
              <a:gd name="T6" fmla="*/ 72 w 105"/>
              <a:gd name="T7" fmla="*/ 54 h 78"/>
              <a:gd name="T8" fmla="*/ 61 w 105"/>
              <a:gd name="T9" fmla="*/ 55 h 78"/>
              <a:gd name="T10" fmla="*/ 56 w 105"/>
              <a:gd name="T11" fmla="*/ 52 h 78"/>
              <a:gd name="T12" fmla="*/ 49 w 105"/>
              <a:gd name="T13" fmla="*/ 52 h 78"/>
              <a:gd name="T14" fmla="*/ 43 w 105"/>
              <a:gd name="T15" fmla="*/ 58 h 78"/>
              <a:gd name="T16" fmla="*/ 43 w 105"/>
              <a:gd name="T17" fmla="*/ 58 h 78"/>
              <a:gd name="T18" fmla="*/ 49 w 105"/>
              <a:gd name="T19" fmla="*/ 64 h 78"/>
              <a:gd name="T20" fmla="*/ 56 w 105"/>
              <a:gd name="T21" fmla="*/ 64 h 78"/>
              <a:gd name="T22" fmla="*/ 61 w 105"/>
              <a:gd name="T23" fmla="*/ 60 h 78"/>
              <a:gd name="T24" fmla="*/ 73 w 105"/>
              <a:gd name="T25" fmla="*/ 59 h 78"/>
              <a:gd name="T26" fmla="*/ 82 w 105"/>
              <a:gd name="T27" fmla="*/ 56 h 78"/>
              <a:gd name="T28" fmla="*/ 52 w 105"/>
              <a:gd name="T29" fmla="*/ 78 h 78"/>
              <a:gd name="T30" fmla="*/ 20 w 105"/>
              <a:gd name="T31" fmla="*/ 46 h 78"/>
              <a:gd name="T32" fmla="*/ 52 w 105"/>
              <a:gd name="T33" fmla="*/ 14 h 78"/>
              <a:gd name="T34" fmla="*/ 52 w 105"/>
              <a:gd name="T35" fmla="*/ 0 h 78"/>
              <a:gd name="T36" fmla="*/ 20 w 105"/>
              <a:gd name="T37" fmla="*/ 14 h 78"/>
              <a:gd name="T38" fmla="*/ 8 w 105"/>
              <a:gd name="T39" fmla="*/ 33 h 78"/>
              <a:gd name="T40" fmla="*/ 6 w 105"/>
              <a:gd name="T41" fmla="*/ 33 h 78"/>
              <a:gd name="T42" fmla="*/ 0 w 105"/>
              <a:gd name="T43" fmla="*/ 40 h 78"/>
              <a:gd name="T44" fmla="*/ 0 w 105"/>
              <a:gd name="T45" fmla="*/ 51 h 78"/>
              <a:gd name="T46" fmla="*/ 6 w 105"/>
              <a:gd name="T47" fmla="*/ 57 h 78"/>
              <a:gd name="T48" fmla="*/ 15 w 105"/>
              <a:gd name="T49" fmla="*/ 57 h 78"/>
              <a:gd name="T50" fmla="*/ 15 w 105"/>
              <a:gd name="T51" fmla="*/ 34 h 78"/>
              <a:gd name="T52" fmla="*/ 25 w 105"/>
              <a:gd name="T53" fmla="*/ 19 h 78"/>
              <a:gd name="T54" fmla="*/ 52 w 105"/>
              <a:gd name="T55" fmla="*/ 7 h 78"/>
              <a:gd name="T56" fmla="*/ 80 w 105"/>
              <a:gd name="T57" fmla="*/ 19 h 78"/>
              <a:gd name="T58" fmla="*/ 89 w 105"/>
              <a:gd name="T59" fmla="*/ 33 h 78"/>
              <a:gd name="T60" fmla="*/ 89 w 105"/>
              <a:gd name="T61" fmla="*/ 57 h 78"/>
              <a:gd name="T62" fmla="*/ 98 w 105"/>
              <a:gd name="T63" fmla="*/ 57 h 78"/>
              <a:gd name="T64" fmla="*/ 105 w 105"/>
              <a:gd name="T65" fmla="*/ 51 h 78"/>
              <a:gd name="T66" fmla="*/ 105 w 105"/>
              <a:gd name="T67" fmla="*/ 40 h 78"/>
              <a:gd name="T68" fmla="*/ 98 w 105"/>
              <a:gd name="T69" fmla="*/ 33 h 78"/>
              <a:gd name="T70" fmla="*/ 96 w 105"/>
              <a:gd name="T71" fmla="*/ 33 h 78"/>
              <a:gd name="T72" fmla="*/ 85 w 105"/>
              <a:gd name="T73" fmla="*/ 14 h 78"/>
              <a:gd name="T74" fmla="*/ 52 w 105"/>
              <a:gd name="T75" fmla="*/ 0 h 7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5"/>
              <a:gd name="T115" fmla="*/ 0 h 78"/>
              <a:gd name="T116" fmla="*/ 105 w 105"/>
              <a:gd name="T117" fmla="*/ 78 h 7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350">
              <a:solidFill>
                <a:srgbClr val="000000"/>
              </a:solidFill>
              <a:latin typeface="Calibri" panose="020F0502020204030204" charset="0"/>
              <a:ea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2825115" y="266700"/>
            <a:ext cx="327088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采样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200832" y="1148837"/>
            <a:ext cx="10315642" cy="67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</a:t>
            </a:r>
            <a:r>
              <a:rPr lang="zh-CN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resample()</a:t>
            </a:r>
            <a:r>
              <a:rPr lang="zh-CN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方法实现降采样操</a:t>
            </a:r>
            <a:r>
              <a:rPr lang="zh-CN" altLang="zh-CN" sz="2400" dirty="0" smtClean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136452" y="1917840"/>
            <a:ext cx="9287312" cy="1391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DataFrame.resample(rule, axis=0, closed=None, label=None, convention='start',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kind=None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 loffset=None, base=None, on=None, level=None,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origin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='start_day', offset=None)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00521" y="1917841"/>
            <a:ext cx="628793" cy="1391946"/>
            <a:chOff x="1293269" y="2061641"/>
            <a:chExt cx="628909" cy="3816424"/>
          </a:xfrm>
          <a:solidFill>
            <a:srgbClr val="CF5F55"/>
          </a:solidFill>
        </p:grpSpPr>
        <p:sp>
          <p:nvSpPr>
            <p:cNvPr id="14" name="剪去单角的矩形 13"/>
            <p:cNvSpPr/>
            <p:nvPr/>
          </p:nvSpPr>
          <p:spPr>
            <a:xfrm flipH="1">
              <a:off x="1293269" y="2061641"/>
              <a:ext cx="628909" cy="3816424"/>
            </a:xfrm>
            <a:prstGeom prst="snip1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3"/>
            <p:cNvSpPr txBox="1"/>
            <p:nvPr/>
          </p:nvSpPr>
          <p:spPr>
            <a:xfrm>
              <a:off x="1363314" y="2312397"/>
              <a:ext cx="521432" cy="3314934"/>
            </a:xfrm>
            <a:prstGeom prst="rect">
              <a:avLst/>
            </a:prstGeom>
            <a:grp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zh-CN" altLang="en-US" sz="2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语法格式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2136452" y="3309787"/>
            <a:ext cx="928731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zh-CN" altLang="zh-CN" sz="20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降采样的频率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：表示各时间段的</a:t>
            </a:r>
            <a:r>
              <a:rPr lang="zh-CN" altLang="zh-CN" sz="20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哪一端是闭合的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：表示降采样时设置的聚合结果的</a:t>
            </a:r>
            <a:r>
              <a:rPr lang="zh-CN" altLang="zh-CN" sz="20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降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采样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8812" y="6164534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降采样前后的对比效果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12502" y="937674"/>
            <a:ext cx="10583256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 algn="just">
              <a:lnSpc>
                <a:spcPct val="150000"/>
              </a:lnSpc>
              <a:buClr>
                <a:schemeClr val="tx1"/>
              </a:buClr>
            </a:pPr>
            <a:r>
              <a:rPr lang="zh-CN" altLang="zh-CN" sz="2400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降采样常见于时间序列类型的数据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。假设现有一组按日统计的包含开盘价、收盘价等信息</a:t>
            </a:r>
            <a:r>
              <a:rPr lang="zh-CN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的股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票数据（非真实数据），该组数</a:t>
            </a:r>
            <a:r>
              <a:rPr lang="zh-CN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的采集频率由每天采集一次变为每</a:t>
            </a:r>
            <a:r>
              <a:rPr lang="en-US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</a:t>
            </a:r>
            <a:r>
              <a:rPr lang="zh-CN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179" y="2761319"/>
            <a:ext cx="3815717" cy="336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3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3620" y="1235710"/>
            <a:ext cx="10046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400" b="1">
                <a:solidFill>
                  <a:srgbClr val="C00000"/>
                </a:solidFill>
              </a:rPr>
              <a:t>主成分分析</a:t>
            </a:r>
            <a:r>
              <a:rPr sz="2400"/>
              <a:t>(Principal Component Analysis，PCA)是一种无监督学习的多元统计分析方法。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50" y="4154170"/>
            <a:ext cx="10046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400" b="1">
                <a:solidFill>
                  <a:srgbClr val="C00000"/>
                </a:solidFill>
                <a:sym typeface="+mn-ea"/>
              </a:rPr>
              <a:t>优势：</a:t>
            </a:r>
            <a:r>
              <a:rPr lang="zh-CN" altLang="en-US" sz="2400">
                <a:sym typeface="+mn-ea"/>
              </a:rPr>
              <a:t>在降低维度的同时最大程度保留原始数据的信息。</a:t>
            </a:r>
            <a:endParaRPr lang="zh-CN" altLang="en-US" sz="2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3620" y="2552065"/>
            <a:ext cx="10046335" cy="141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sz="2400" b="1">
                <a:solidFill>
                  <a:srgbClr val="C00000"/>
                </a:solidFill>
                <a:sym typeface="+mn-ea"/>
              </a:rPr>
              <a:t>原理</a:t>
            </a:r>
            <a:r>
              <a:rPr lang="zh-CN" sz="2400" b="1">
                <a:solidFill>
                  <a:srgbClr val="C00000"/>
                </a:solidFill>
                <a:sym typeface="+mn-ea"/>
              </a:rPr>
              <a:t>：</a:t>
            </a:r>
            <a:r>
              <a:rPr lang="zh-CN" altLang="en-US" sz="2400">
                <a:sym typeface="+mn-ea"/>
              </a:rPr>
              <a:t>将高维的原始特征映射（转换）到一个低维的新特征空间中，新特征通常是原始特征的组合。</a:t>
            </a:r>
            <a:endParaRPr lang="zh-CN" altLang="en-US" sz="240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49400" y="1142365"/>
            <a:ext cx="895540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/>
              <a:t>假设构建二手房预测模型，有</a:t>
            </a:r>
            <a:r>
              <a:rPr lang="en-US" sz="2400"/>
              <a:t>5</a:t>
            </a:r>
            <a:r>
              <a:rPr sz="2400"/>
              <a:t>个特征：地铁距离、公交线路数、商场数量、学校评分、公园面积。</a:t>
            </a:r>
            <a:endParaRPr sz="2400"/>
          </a:p>
          <a:p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直接使用6维特征的问题</a:t>
            </a:r>
            <a:endParaRPr sz="2400"/>
          </a:p>
          <a:p>
            <a:r>
              <a:rPr sz="2400">
                <a:solidFill>
                  <a:srgbClr val="C00000"/>
                </a:solidFill>
              </a:rPr>
              <a:t>多重共线性:</a:t>
            </a:r>
            <a:r>
              <a:rPr sz="2400"/>
              <a:t>如地铁和公交线路数高度相关，难以评估作用。</a:t>
            </a:r>
            <a:endParaRPr sz="2400"/>
          </a:p>
          <a:p>
            <a:r>
              <a:rPr sz="2400">
                <a:solidFill>
                  <a:srgbClr val="C00000"/>
                </a:solidFill>
              </a:rPr>
              <a:t>特征冗余:</a:t>
            </a:r>
            <a:r>
              <a:rPr sz="2400"/>
              <a:t>大量信息重复，增加模型复杂度。</a:t>
            </a:r>
            <a:endParaRPr sz="2400"/>
          </a:p>
          <a:p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背后的隐藏因子:地段</a:t>
            </a:r>
            <a:endParaRPr sz="2400"/>
          </a:p>
          <a:p>
            <a:r>
              <a:rPr sz="2400"/>
              <a:t>这6个特征表面各不相同，但背后都与“地段好坏”密切相关。</a:t>
            </a:r>
            <a:endParaRPr sz="2400"/>
          </a:p>
          <a:p>
            <a:r>
              <a:rPr sz="2400"/>
              <a:t>一个好地段的小区，往往同时具备地铁近、公交多、商场多等特点。它们携带着高度重叠的信息。</a:t>
            </a:r>
            <a:endParaRPr sz="2400"/>
          </a:p>
        </p:txBody>
      </p:sp>
      <p:sp>
        <p:nvSpPr>
          <p:cNvPr id="2" name="椭圆形标注 1"/>
          <p:cNvSpPr/>
          <p:nvPr/>
        </p:nvSpPr>
        <p:spPr>
          <a:xfrm>
            <a:off x="9286875" y="1365885"/>
            <a:ext cx="2851785" cy="1339215"/>
          </a:xfrm>
          <a:prstGeom prst="wedgeEllipseCallout">
            <a:avLst>
              <a:gd name="adj1" fmla="val -46035"/>
              <a:gd name="adj2" fmla="val 5548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/>
              <a:t>能否直接删除地铁距离这一特征？</a:t>
            </a:r>
            <a:endParaRPr lang="zh-CN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585085" y="1268730"/>
          <a:ext cx="81457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"/>
                <a:gridCol w="1360170"/>
                <a:gridCol w="1524000"/>
                <a:gridCol w="1421765"/>
                <a:gridCol w="1219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地铁距离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公交线路数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商场数量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学校评分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公园面积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5022850" y="3731260"/>
          <a:ext cx="28575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地段分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5193030" y="2975610"/>
            <a:ext cx="998220" cy="6445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402955" y="3515995"/>
            <a:ext cx="1137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C00000"/>
                </a:solidFill>
              </a:rPr>
              <a:t>主成分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6226175" y="3783330"/>
            <a:ext cx="2226945" cy="13779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66770" y="4385310"/>
            <a:ext cx="1664335" cy="55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891405" y="1677035"/>
            <a:ext cx="4296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思考1：PCA为什么要进行中心化？</a:t>
            </a:r>
            <a:endParaRPr lang="zh-CN" altLang="en-US" sz="20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03950" y="2091055"/>
            <a:ext cx="48780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④　求解样本相关矩阵R</a:t>
            </a:r>
            <a:r>
              <a:rPr lang="zh-CN">
                <a:sym typeface="+mn-ea"/>
              </a:rPr>
              <a:t>。</a:t>
            </a:r>
            <a:endParaRPr 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⑤　确定主成分个数m：，α 根据实际问题确定，一般取80%。</a:t>
            </a:r>
            <a:endParaRPr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⑥　计算m个相应单位特征向量如下。</a:t>
            </a:r>
            <a:endParaRPr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139190" y="6031230"/>
                <a:ext cx="4898390" cy="556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>
                    <a:sym typeface="+mn-ea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𝑗𝑖</m:t>
                        </m:r>
                      </m:sub>
                    </m:sSub>
                  </m:oMath>
                </a14:m>
                <a:r>
                  <a:rPr>
                    <a:sym typeface="+mn-ea"/>
                  </a:rPr>
                  <a:t>，r=1。</a:t>
                </a:r>
                <a:endParaRPr>
                  <a:sym typeface="+mn-ea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90" y="6031230"/>
                <a:ext cx="4898390" cy="5562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39190" y="3531235"/>
                <a:ext cx="4711065" cy="1802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>
                    <a:sym typeface="+mn-ea"/>
                  </a:rPr>
                  <a:t>②　将数据矩阵按列进行中心标准化。为了方便，将标准化后的数据矩阵仍然记为X。</a:t>
                </a:r>
                <a:endParaRPr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>
                    <a:sym typeface="+mn-ea"/>
                  </a:rPr>
                  <a:t>③　求相关系数矩阵R，</a:t>
                </a:r>
                <a:r>
                  <a:rPr lang="en-US">
                    <a:sym typeface="+mn-ea"/>
                  </a:rPr>
                  <a:t>                       </a:t>
                </a:r>
                <a:r>
                  <a:rPr lang="zh-CN" altLang="en-US">
                    <a:sym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>
                    <a:sym typeface="+mn-ea"/>
                  </a:rPr>
                  <a:t>   </a:t>
                </a:r>
                <a:r>
                  <a:rPr>
                    <a:sym typeface="+mn-ea"/>
                  </a:rPr>
                  <a:t>的定义如下。</a:t>
                </a:r>
                <a:endParaRPr>
                  <a:sym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139190" y="3531235"/>
                <a:ext cx="4711065" cy="18027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023620" y="2224405"/>
            <a:ext cx="45129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①　设原始变量的n次观测数据矩阵为如下。</a:t>
            </a:r>
            <a:endParaRPr>
              <a:sym typeface="+mn-ea"/>
            </a:endParaRPr>
          </a:p>
        </p:txBody>
      </p:sp>
      <p:pic>
        <p:nvPicPr>
          <p:cNvPr id="200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620" y="5196205"/>
            <a:ext cx="4871720" cy="75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4040" y="2731135"/>
            <a:ext cx="2689860" cy="800100"/>
          </a:xfrm>
          <a:prstGeom prst="rect">
            <a:avLst/>
          </a:prstGeom>
        </p:spPr>
      </p:pic>
      <p:pic>
        <p:nvPicPr>
          <p:cNvPr id="221" name="图片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078" y="3941445"/>
            <a:ext cx="360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203950" y="54787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/>
            <a:r>
              <a:t>⑦　计算主成分。</a:t>
            </a:r>
          </a:p>
        </p:txBody>
      </p:sp>
      <p:pic>
        <p:nvPicPr>
          <p:cNvPr id="222" name="图片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890" y="6030913"/>
            <a:ext cx="36576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圆角矩形标注 12"/>
          <p:cNvSpPr/>
          <p:nvPr/>
        </p:nvSpPr>
        <p:spPr>
          <a:xfrm>
            <a:off x="4726305" y="1574800"/>
            <a:ext cx="4180840" cy="553085"/>
          </a:xfrm>
          <a:prstGeom prst="wedgeRoundRectCallout">
            <a:avLst>
              <a:gd name="adj1" fmla="val -52582"/>
              <a:gd name="adj2" fmla="val 322560"/>
              <a:gd name="adj3" fmla="val 16667"/>
            </a:avLst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Title 1"/>
          <p:cNvSpPr txBox="1"/>
          <p:nvPr>
            <p:custDataLst>
              <p:tags r:id="rId1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57469" y="900720"/>
            <a:ext cx="5807281" cy="628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200" b="1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PCA的计算步骤</a:t>
            </a:r>
            <a:endParaRPr lang="zh-CN" altLang="en-US" sz="2200" b="1" dirty="0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五边形 13"/>
          <p:cNvSpPr/>
          <p:nvPr>
            <p:custDataLst>
              <p:tags r:id="rId13"/>
            </p:custDataLst>
          </p:nvPr>
        </p:nvSpPr>
        <p:spPr>
          <a:xfrm>
            <a:off x="1096896" y="900721"/>
            <a:ext cx="1007693" cy="595648"/>
          </a:xfrm>
          <a:prstGeom prst="homePlate">
            <a:avLst/>
          </a:prstGeom>
          <a:solidFill>
            <a:srgbClr val="CF5F55"/>
          </a:solidFill>
          <a:ln>
            <a:solidFill>
              <a:srgbClr val="CF5F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41"/>
          <p:cNvSpPr>
            <a:spLocks noEditPoints="1" noChangeArrowheads="1"/>
          </p:cNvSpPr>
          <p:nvPr>
            <p:custDataLst>
              <p:tags r:id="rId14"/>
            </p:custDataLst>
          </p:nvPr>
        </p:nvSpPr>
        <p:spPr bwMode="auto">
          <a:xfrm>
            <a:off x="1258203" y="1012793"/>
            <a:ext cx="414418" cy="346862"/>
          </a:xfrm>
          <a:custGeom>
            <a:avLst/>
            <a:gdLst>
              <a:gd name="T0" fmla="*/ 52 w 105"/>
              <a:gd name="T1" fmla="*/ 14 h 78"/>
              <a:gd name="T2" fmla="*/ 84 w 105"/>
              <a:gd name="T3" fmla="*/ 46 h 78"/>
              <a:gd name="T4" fmla="*/ 84 w 105"/>
              <a:gd name="T5" fmla="*/ 50 h 78"/>
              <a:gd name="T6" fmla="*/ 72 w 105"/>
              <a:gd name="T7" fmla="*/ 54 h 78"/>
              <a:gd name="T8" fmla="*/ 61 w 105"/>
              <a:gd name="T9" fmla="*/ 55 h 78"/>
              <a:gd name="T10" fmla="*/ 56 w 105"/>
              <a:gd name="T11" fmla="*/ 52 h 78"/>
              <a:gd name="T12" fmla="*/ 49 w 105"/>
              <a:gd name="T13" fmla="*/ 52 h 78"/>
              <a:gd name="T14" fmla="*/ 43 w 105"/>
              <a:gd name="T15" fmla="*/ 58 h 78"/>
              <a:gd name="T16" fmla="*/ 43 w 105"/>
              <a:gd name="T17" fmla="*/ 58 h 78"/>
              <a:gd name="T18" fmla="*/ 49 w 105"/>
              <a:gd name="T19" fmla="*/ 64 h 78"/>
              <a:gd name="T20" fmla="*/ 56 w 105"/>
              <a:gd name="T21" fmla="*/ 64 h 78"/>
              <a:gd name="T22" fmla="*/ 61 w 105"/>
              <a:gd name="T23" fmla="*/ 60 h 78"/>
              <a:gd name="T24" fmla="*/ 73 w 105"/>
              <a:gd name="T25" fmla="*/ 59 h 78"/>
              <a:gd name="T26" fmla="*/ 82 w 105"/>
              <a:gd name="T27" fmla="*/ 56 h 78"/>
              <a:gd name="T28" fmla="*/ 52 w 105"/>
              <a:gd name="T29" fmla="*/ 78 h 78"/>
              <a:gd name="T30" fmla="*/ 20 w 105"/>
              <a:gd name="T31" fmla="*/ 46 h 78"/>
              <a:gd name="T32" fmla="*/ 52 w 105"/>
              <a:gd name="T33" fmla="*/ 14 h 78"/>
              <a:gd name="T34" fmla="*/ 52 w 105"/>
              <a:gd name="T35" fmla="*/ 0 h 78"/>
              <a:gd name="T36" fmla="*/ 20 w 105"/>
              <a:gd name="T37" fmla="*/ 14 h 78"/>
              <a:gd name="T38" fmla="*/ 8 w 105"/>
              <a:gd name="T39" fmla="*/ 33 h 78"/>
              <a:gd name="T40" fmla="*/ 6 w 105"/>
              <a:gd name="T41" fmla="*/ 33 h 78"/>
              <a:gd name="T42" fmla="*/ 0 w 105"/>
              <a:gd name="T43" fmla="*/ 40 h 78"/>
              <a:gd name="T44" fmla="*/ 0 w 105"/>
              <a:gd name="T45" fmla="*/ 51 h 78"/>
              <a:gd name="T46" fmla="*/ 6 w 105"/>
              <a:gd name="T47" fmla="*/ 57 h 78"/>
              <a:gd name="T48" fmla="*/ 15 w 105"/>
              <a:gd name="T49" fmla="*/ 57 h 78"/>
              <a:gd name="T50" fmla="*/ 15 w 105"/>
              <a:gd name="T51" fmla="*/ 34 h 78"/>
              <a:gd name="T52" fmla="*/ 25 w 105"/>
              <a:gd name="T53" fmla="*/ 19 h 78"/>
              <a:gd name="T54" fmla="*/ 52 w 105"/>
              <a:gd name="T55" fmla="*/ 7 h 78"/>
              <a:gd name="T56" fmla="*/ 80 w 105"/>
              <a:gd name="T57" fmla="*/ 19 h 78"/>
              <a:gd name="T58" fmla="*/ 89 w 105"/>
              <a:gd name="T59" fmla="*/ 33 h 78"/>
              <a:gd name="T60" fmla="*/ 89 w 105"/>
              <a:gd name="T61" fmla="*/ 57 h 78"/>
              <a:gd name="T62" fmla="*/ 98 w 105"/>
              <a:gd name="T63" fmla="*/ 57 h 78"/>
              <a:gd name="T64" fmla="*/ 105 w 105"/>
              <a:gd name="T65" fmla="*/ 51 h 78"/>
              <a:gd name="T66" fmla="*/ 105 w 105"/>
              <a:gd name="T67" fmla="*/ 40 h 78"/>
              <a:gd name="T68" fmla="*/ 98 w 105"/>
              <a:gd name="T69" fmla="*/ 33 h 78"/>
              <a:gd name="T70" fmla="*/ 96 w 105"/>
              <a:gd name="T71" fmla="*/ 33 h 78"/>
              <a:gd name="T72" fmla="*/ 85 w 105"/>
              <a:gd name="T73" fmla="*/ 14 h 78"/>
              <a:gd name="T74" fmla="*/ 52 w 105"/>
              <a:gd name="T75" fmla="*/ 0 h 7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5"/>
              <a:gd name="T115" fmla="*/ 0 h 78"/>
              <a:gd name="T116" fmla="*/ 105 w 105"/>
              <a:gd name="T117" fmla="*/ 78 h 7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350">
              <a:solidFill>
                <a:srgbClr val="000000"/>
              </a:solidFill>
              <a:latin typeface="Calibri" panose="020F0502020204030204" charset="0"/>
              <a:ea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1"/>
      <p:bldP spid="11" grpId="1"/>
      <p:bldP spid="10" grpId="1"/>
      <p:bldP spid="4" grpId="1"/>
      <p:bldP spid="8" grpId="1"/>
      <p:bldP spid="5" grpId="1"/>
      <p:bldP spid="1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36930" y="1554480"/>
          <a:ext cx="1034415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025"/>
                <a:gridCol w="1724025"/>
                <a:gridCol w="1724025"/>
                <a:gridCol w="1724025"/>
                <a:gridCol w="1724025"/>
                <a:gridCol w="1724025"/>
              </a:tblGrid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小区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地铁距离(米)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公交线路数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商场数量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学校评分(10分)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公园面积(万㎡)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3.2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D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800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5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2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7.0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1.2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E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1000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3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1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6.0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0.8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F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1500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2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5.0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0.3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023620" y="1004570"/>
            <a:ext cx="45129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①　设原始变量的n次观测数据矩阵为如下。</a:t>
            </a:r>
            <a:endParaRPr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956310" y="1193165"/>
            <a:ext cx="92513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②　将数据矩阵按列进行中心标准化。为了方便，将标准化后的数据矩阵仍然记为X。</a:t>
            </a:r>
            <a:endParaRPr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486535" y="1966595"/>
          <a:ext cx="104711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878"/>
                <a:gridCol w="1495878"/>
                <a:gridCol w="1495878"/>
                <a:gridCol w="1495878"/>
                <a:gridCol w="1495878"/>
                <a:gridCol w="1495878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小区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地铁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公交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商场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学校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公园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-516.7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5.33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1.48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-416.7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3.33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-216.7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1.33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D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83.3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-1.67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-0.5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-0.42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-0.52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E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283.3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-3.67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-1.5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-1.42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-0.92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F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783.3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-4.67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-2.5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-2.42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-1.42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290445" y="2035175"/>
          <a:ext cx="731139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"/>
                <a:gridCol w="1218565"/>
                <a:gridCol w="1218565"/>
                <a:gridCol w="1354455"/>
                <a:gridCol w="1082675"/>
                <a:gridCol w="1218565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地铁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公交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商场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学校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公园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地铁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-0.95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-0.93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-0.94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公交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0.97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商场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-0.93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0.98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学校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0.97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0.94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公园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-0.94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0.94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023620" y="984885"/>
            <a:ext cx="71793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③　求相关系数矩阵R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5275" y="149161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计算每两个特征之间的相关系数。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374265" y="2489200"/>
          <a:ext cx="652208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2239645"/>
                <a:gridCol w="3054350"/>
              </a:tblGrid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主成分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特征值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解释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第1个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4.65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最重要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第2个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0.25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次要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第3个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0.06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不重要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第4个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0.03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很不重要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第5个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0.01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几乎可忽略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36370" y="1129030"/>
            <a:ext cx="48780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④　求解样本相关矩阵R</a:t>
            </a:r>
            <a:r>
              <a:rPr lang="zh-CN">
                <a:sym typeface="+mn-ea"/>
              </a:rPr>
              <a:t>。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938655" y="1762760"/>
            <a:ext cx="56648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>
                <a:sym typeface="+mn-ea"/>
              </a:rPr>
              <a:t>这一步是数学计算，电脑会解出特征值和特征向量。</a:t>
            </a:r>
            <a:endParaRPr 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541145" y="1977390"/>
          <a:ext cx="875411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527"/>
                <a:gridCol w="2188527"/>
                <a:gridCol w="2849245"/>
                <a:gridCol w="1527809"/>
              </a:tblGrid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主成分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特征值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方差贡献率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累计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第1个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4.65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4.65÷5 = 93%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93%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第2个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0.25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98%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第3个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0.06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99.2%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5562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第4个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0.03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99.8%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第5个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0.01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217930" y="955675"/>
            <a:ext cx="69411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⑤　确定主成分个数m</a:t>
            </a:r>
            <a:endParaRPr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1335" y="16090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取α=80%（累计方差贡献率≥80%）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41145" y="56648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m = </a:t>
            </a:r>
            <a:r>
              <a:rPr lang="en-US" altLang="zh-CN"/>
              <a:t>1</a:t>
            </a:r>
            <a:r>
              <a:rPr lang="zh-CN" altLang="en-US"/>
              <a:t>（保留</a:t>
            </a:r>
            <a:r>
              <a:rPr lang="en-US" altLang="zh-CN"/>
              <a:t>1</a:t>
            </a:r>
            <a:r>
              <a:rPr lang="zh-CN" altLang="en-US"/>
              <a:t>个主成分）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7930" y="1129030"/>
            <a:ext cx="48780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⑥　计算m个相应单位特征向量。</a:t>
            </a:r>
            <a:endParaRPr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2545" y="177482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特征向量就是新特征的计算公式。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487805" y="2797810"/>
          <a:ext cx="652208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5595"/>
                <a:gridCol w="1023239"/>
                <a:gridCol w="1304417"/>
                <a:gridCol w="1304417"/>
                <a:gridCol w="1304417"/>
              </a:tblGrid>
              <a:tr h="5562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地铁距离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公交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商场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学校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公园</a:t>
                      </a:r>
                      <a:endParaRPr lang="zh-CN" altLang="en-US" sz="2400" b="0" i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</a:tr>
              <a:tr h="5562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-0.45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0.44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0.43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0.44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0.42</a:t>
                      </a:r>
                      <a:endParaRPr lang="zh-CN" altLang="en-US" sz="24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487805" y="226314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第一主成分（交通便利性）的特征向量：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87805" y="4288155"/>
            <a:ext cx="84956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地段分 = -0.45×地铁 + 0.44×公交 + 0.43×商场 + 0.44×学校 + 0.42×公园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12545" y="121221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/>
            <a:r>
              <a:t>⑦　计算主成分。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312545" y="2019935"/>
          <a:ext cx="990219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235"/>
                <a:gridCol w="7420610"/>
                <a:gridCol w="136334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小区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计算过程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地段分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A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-0.45×(-516.7) + 0.44×5.33 + 0.43×2.5 + 0.44×2.08 + 0.42×1.48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+2.34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-0.45×(-416.7) + 0.44×3.33 + 0.43×1.5 + 0.44×1.58 + 0.42×1.08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+1.56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C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-0.45×(-216.7) + 0.44×1.33 + 0.43×0.5 + 0.44×0.58 + 0.42×0.28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+0.78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-0.45×83.3 + 0.44×(-1.67) + 0.43×(-0.5) + 0.44×(-0.42) + 0.42×(-0.52)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-0.52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-0.45×283.3 + 0.44×(-3.67) + 0.43×(-1.5) + 0.44×(-1.42) + 0.42×(-0.92)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-1.56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F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-0.45×783.3 + 0.44×(-4.67) + 0.43×(-2.5) + 0.44×(-2.42) + 0.42×(-1.42)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-2.60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604010" y="161671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把每个小区的中心化数据代入公式。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8800" y="14484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最终结果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1828800" y="2095500"/>
          <a:ext cx="8532495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123"/>
                <a:gridCol w="2133123"/>
                <a:gridCol w="2133123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小区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地段分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实际房价(万)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A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2.34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450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1.56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420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C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0.78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350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-0.52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280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-1.56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220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F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-2.60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180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702310" y="3103880"/>
            <a:ext cx="520192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(1)n_components</a:t>
            </a:r>
            <a:endParaRPr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意义：</a:t>
            </a:r>
            <a:r>
              <a:rPr>
                <a:sym typeface="+mn-ea"/>
              </a:rPr>
              <a:t>PCA 算法中所要保留的主成分个数n，即保留下来的特征个数。</a:t>
            </a:r>
            <a:endParaRPr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类型：</a:t>
            </a:r>
            <a:r>
              <a:rPr>
                <a:sym typeface="+mn-ea"/>
              </a:rPr>
              <a:t>int或者string，缺省时默认为 None，所有成分被保留。</a:t>
            </a:r>
            <a:r>
              <a:rPr>
                <a:sym typeface="+mn-ea"/>
              </a:rPr>
              <a:t>赋值为string，比如n_components=’mle’，将自动选取特征个数n，使得满足所要求的方差百分比。</a:t>
            </a:r>
            <a:endParaRPr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3620" y="1736725"/>
            <a:ext cx="10121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400">
                <a:sym typeface="+mn-ea"/>
              </a:rPr>
              <a:t>在 Python 中，主成分分析的函数位于sklearn库的decomposition中。</a:t>
            </a:r>
            <a:endParaRPr sz="2400">
              <a:sym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692910" y="2678430"/>
            <a:ext cx="8782050" cy="36830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>
            <a:spAutoFit/>
          </a:bodyPr>
          <a:p>
            <a:pPr indent="0" algn="ctr"/>
            <a:r>
              <a:rPr lang="en-US" b="0">
                <a:latin typeface="Times New Roman" panose="02020603050405020304" pitchFamily="18" charset="0"/>
                <a:ea typeface="宋体" panose="02010600030101010101" pitchFamily="2" charset="-122"/>
              </a:rPr>
              <a:t>class sklearn.decomposition.PCA(n_components=None, copy=True, whiten=False)</a:t>
            </a:r>
            <a:endParaRPr lang="en-US" altLang="en-US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170" y="3104515"/>
            <a:ext cx="6096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(2)copy</a:t>
            </a:r>
            <a:endParaRPr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类型：</a:t>
            </a:r>
            <a:r>
              <a:rPr>
                <a:sym typeface="+mn-ea"/>
              </a:rPr>
              <a:t>bool，True或者False，缺省时默认为True。</a:t>
            </a:r>
            <a:endParaRPr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意义：</a:t>
            </a:r>
            <a:r>
              <a:rPr>
                <a:sym typeface="+mn-ea"/>
              </a:rPr>
              <a:t>表示是否在运行算法时，将原始训练数据复制一份。若为 True，原始训练数据的值不会有任何改变；若为 False，则运行 PCA算法后，原始训练数据的值会改变</a:t>
            </a:r>
            <a:r>
              <a:rPr lang="zh-CN">
                <a:sym typeface="+mn-ea"/>
              </a:rPr>
              <a:t>。</a:t>
            </a:r>
            <a:endParaRPr 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(3)whiten  </a:t>
            </a:r>
            <a:endParaRPr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类型：</a:t>
            </a:r>
            <a:r>
              <a:rPr>
                <a:sym typeface="+mn-ea"/>
              </a:rPr>
              <a:t>bool，缺省时默认为False。</a:t>
            </a:r>
            <a:endParaRPr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b="1">
                <a:sym typeface="+mn-ea"/>
              </a:rPr>
              <a:t>意义</a:t>
            </a:r>
            <a:r>
              <a:rPr lang="zh-CN" b="1">
                <a:sym typeface="+mn-ea"/>
              </a:rPr>
              <a:t>：</a:t>
            </a:r>
            <a:r>
              <a:rPr>
                <a:sym typeface="+mn-ea"/>
              </a:rPr>
              <a:t>白化，使得每个特征具有相同的方差。</a:t>
            </a:r>
            <a:endParaRPr lang="zh-CN" altLang="en-US"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1961515" y="2620645"/>
            <a:ext cx="8144510" cy="556895"/>
          </a:xfrm>
          <a:prstGeom prst="roundRect">
            <a:avLst/>
          </a:prstGeom>
          <a:noFill/>
          <a:ln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2890520" y="266700"/>
            <a:ext cx="320548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PCA降维</a:t>
            </a:r>
            <a:endParaRPr lang="zh-CN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57469" y="900720"/>
            <a:ext cx="5807281" cy="628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200" b="1" dirty="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sklearn中的PCA</a:t>
            </a:r>
            <a:endParaRPr lang="zh-CN" altLang="en-US" sz="2200" b="1" dirty="0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五边形 13"/>
          <p:cNvSpPr/>
          <p:nvPr>
            <p:custDataLst>
              <p:tags r:id="rId4"/>
            </p:custDataLst>
          </p:nvPr>
        </p:nvSpPr>
        <p:spPr>
          <a:xfrm>
            <a:off x="1096896" y="900721"/>
            <a:ext cx="1007693" cy="595648"/>
          </a:xfrm>
          <a:prstGeom prst="homePlate">
            <a:avLst/>
          </a:prstGeom>
          <a:solidFill>
            <a:srgbClr val="CF5F55"/>
          </a:solidFill>
          <a:ln>
            <a:solidFill>
              <a:srgbClr val="CF5F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41"/>
          <p:cNvSpPr>
            <a:spLocks noEditPoints="1" noChangeArrowheads="1"/>
          </p:cNvSpPr>
          <p:nvPr>
            <p:custDataLst>
              <p:tags r:id="rId5"/>
            </p:custDataLst>
          </p:nvPr>
        </p:nvSpPr>
        <p:spPr bwMode="auto">
          <a:xfrm>
            <a:off x="1258203" y="1012793"/>
            <a:ext cx="414418" cy="346862"/>
          </a:xfrm>
          <a:custGeom>
            <a:avLst/>
            <a:gdLst>
              <a:gd name="T0" fmla="*/ 52 w 105"/>
              <a:gd name="T1" fmla="*/ 14 h 78"/>
              <a:gd name="T2" fmla="*/ 84 w 105"/>
              <a:gd name="T3" fmla="*/ 46 h 78"/>
              <a:gd name="T4" fmla="*/ 84 w 105"/>
              <a:gd name="T5" fmla="*/ 50 h 78"/>
              <a:gd name="T6" fmla="*/ 72 w 105"/>
              <a:gd name="T7" fmla="*/ 54 h 78"/>
              <a:gd name="T8" fmla="*/ 61 w 105"/>
              <a:gd name="T9" fmla="*/ 55 h 78"/>
              <a:gd name="T10" fmla="*/ 56 w 105"/>
              <a:gd name="T11" fmla="*/ 52 h 78"/>
              <a:gd name="T12" fmla="*/ 49 w 105"/>
              <a:gd name="T13" fmla="*/ 52 h 78"/>
              <a:gd name="T14" fmla="*/ 43 w 105"/>
              <a:gd name="T15" fmla="*/ 58 h 78"/>
              <a:gd name="T16" fmla="*/ 43 w 105"/>
              <a:gd name="T17" fmla="*/ 58 h 78"/>
              <a:gd name="T18" fmla="*/ 49 w 105"/>
              <a:gd name="T19" fmla="*/ 64 h 78"/>
              <a:gd name="T20" fmla="*/ 56 w 105"/>
              <a:gd name="T21" fmla="*/ 64 h 78"/>
              <a:gd name="T22" fmla="*/ 61 w 105"/>
              <a:gd name="T23" fmla="*/ 60 h 78"/>
              <a:gd name="T24" fmla="*/ 73 w 105"/>
              <a:gd name="T25" fmla="*/ 59 h 78"/>
              <a:gd name="T26" fmla="*/ 82 w 105"/>
              <a:gd name="T27" fmla="*/ 56 h 78"/>
              <a:gd name="T28" fmla="*/ 52 w 105"/>
              <a:gd name="T29" fmla="*/ 78 h 78"/>
              <a:gd name="T30" fmla="*/ 20 w 105"/>
              <a:gd name="T31" fmla="*/ 46 h 78"/>
              <a:gd name="T32" fmla="*/ 52 w 105"/>
              <a:gd name="T33" fmla="*/ 14 h 78"/>
              <a:gd name="T34" fmla="*/ 52 w 105"/>
              <a:gd name="T35" fmla="*/ 0 h 78"/>
              <a:gd name="T36" fmla="*/ 20 w 105"/>
              <a:gd name="T37" fmla="*/ 14 h 78"/>
              <a:gd name="T38" fmla="*/ 8 w 105"/>
              <a:gd name="T39" fmla="*/ 33 h 78"/>
              <a:gd name="T40" fmla="*/ 6 w 105"/>
              <a:gd name="T41" fmla="*/ 33 h 78"/>
              <a:gd name="T42" fmla="*/ 0 w 105"/>
              <a:gd name="T43" fmla="*/ 40 h 78"/>
              <a:gd name="T44" fmla="*/ 0 w 105"/>
              <a:gd name="T45" fmla="*/ 51 h 78"/>
              <a:gd name="T46" fmla="*/ 6 w 105"/>
              <a:gd name="T47" fmla="*/ 57 h 78"/>
              <a:gd name="T48" fmla="*/ 15 w 105"/>
              <a:gd name="T49" fmla="*/ 57 h 78"/>
              <a:gd name="T50" fmla="*/ 15 w 105"/>
              <a:gd name="T51" fmla="*/ 34 h 78"/>
              <a:gd name="T52" fmla="*/ 25 w 105"/>
              <a:gd name="T53" fmla="*/ 19 h 78"/>
              <a:gd name="T54" fmla="*/ 52 w 105"/>
              <a:gd name="T55" fmla="*/ 7 h 78"/>
              <a:gd name="T56" fmla="*/ 80 w 105"/>
              <a:gd name="T57" fmla="*/ 19 h 78"/>
              <a:gd name="T58" fmla="*/ 89 w 105"/>
              <a:gd name="T59" fmla="*/ 33 h 78"/>
              <a:gd name="T60" fmla="*/ 89 w 105"/>
              <a:gd name="T61" fmla="*/ 57 h 78"/>
              <a:gd name="T62" fmla="*/ 98 w 105"/>
              <a:gd name="T63" fmla="*/ 57 h 78"/>
              <a:gd name="T64" fmla="*/ 105 w 105"/>
              <a:gd name="T65" fmla="*/ 51 h 78"/>
              <a:gd name="T66" fmla="*/ 105 w 105"/>
              <a:gd name="T67" fmla="*/ 40 h 78"/>
              <a:gd name="T68" fmla="*/ 98 w 105"/>
              <a:gd name="T69" fmla="*/ 33 h 78"/>
              <a:gd name="T70" fmla="*/ 96 w 105"/>
              <a:gd name="T71" fmla="*/ 33 h 78"/>
              <a:gd name="T72" fmla="*/ 85 w 105"/>
              <a:gd name="T73" fmla="*/ 14 h 78"/>
              <a:gd name="T74" fmla="*/ 52 w 105"/>
              <a:gd name="T75" fmla="*/ 0 h 7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5"/>
              <a:gd name="T115" fmla="*/ 0 h 78"/>
              <a:gd name="T116" fmla="*/ 105 w 105"/>
              <a:gd name="T117" fmla="*/ 78 h 7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350">
              <a:solidFill>
                <a:srgbClr val="000000"/>
              </a:solidFill>
              <a:latin typeface="Calibri" panose="020F0502020204030204" charset="0"/>
              <a:ea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6" grpId="0"/>
      <p:bldP spid="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2962275" y="284480"/>
            <a:ext cx="270700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zh-CN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86855" y="1741359"/>
            <a:ext cx="8435685" cy="3856276"/>
            <a:chOff x="2499466" y="1735801"/>
            <a:chExt cx="8437247" cy="3856990"/>
          </a:xfrm>
        </p:grpSpPr>
        <p:sp>
          <p:nvSpPr>
            <p:cNvPr id="5" name="矩形: 圆角 1"/>
            <p:cNvSpPr/>
            <p:nvPr/>
          </p:nvSpPr>
          <p:spPr>
            <a:xfrm>
              <a:off x="2802363" y="1879311"/>
              <a:ext cx="8134350" cy="3713480"/>
            </a:xfrm>
            <a:prstGeom prst="roundRect">
              <a:avLst>
                <a:gd name="adj" fmla="val 5720"/>
              </a:avLst>
            </a:prstGeom>
            <a:solidFill>
              <a:srgbClr val="CF5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3"/>
            <p:cNvSpPr/>
            <p:nvPr/>
          </p:nvSpPr>
          <p:spPr>
            <a:xfrm>
              <a:off x="2865229" y="1942176"/>
              <a:ext cx="8007985" cy="3587750"/>
            </a:xfrm>
            <a:prstGeom prst="roundRect">
              <a:avLst>
                <a:gd name="adj" fmla="val 57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499466" y="1735801"/>
              <a:ext cx="744278" cy="744278"/>
            </a:xfrm>
            <a:prstGeom prst="ellipse">
              <a:avLst/>
            </a:prstGeom>
            <a:solidFill>
              <a:srgbClr val="CF5F55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" name="椭圆 7"/>
          <p:cNvSpPr/>
          <p:nvPr/>
        </p:nvSpPr>
        <p:spPr>
          <a:xfrm>
            <a:off x="2090524" y="1947717"/>
            <a:ext cx="334268" cy="332696"/>
          </a:xfrm>
          <a:custGeom>
            <a:avLst/>
            <a:gdLst>
              <a:gd name="connsiteX0" fmla="*/ 285751 w 338138"/>
              <a:gd name="connsiteY0" fmla="*/ 30163 h 336550"/>
              <a:gd name="connsiteX1" fmla="*/ 81762 w 338138"/>
              <a:gd name="connsiteY1" fmla="*/ 231806 h 336550"/>
              <a:gd name="connsiteX2" fmla="*/ 285751 w 338138"/>
              <a:gd name="connsiteY2" fmla="*/ 30163 h 336550"/>
              <a:gd name="connsiteX3" fmla="*/ 338138 w 338138"/>
              <a:gd name="connsiteY3" fmla="*/ 0 h 336550"/>
              <a:gd name="connsiteX4" fmla="*/ 289267 w 338138"/>
              <a:gd name="connsiteY4" fmla="*/ 131465 h 336550"/>
              <a:gd name="connsiteX5" fmla="*/ 276058 w 338138"/>
              <a:gd name="connsiteY5" fmla="*/ 144611 h 336550"/>
              <a:gd name="connsiteX6" fmla="*/ 190203 w 338138"/>
              <a:gd name="connsiteY6" fmla="*/ 166960 h 336550"/>
              <a:gd name="connsiteX7" fmla="*/ 245679 w 338138"/>
              <a:gd name="connsiteY7" fmla="*/ 170904 h 336550"/>
              <a:gd name="connsiteX8" fmla="*/ 73967 w 338138"/>
              <a:gd name="connsiteY8" fmla="*/ 262930 h 336550"/>
              <a:gd name="connsiteX9" fmla="*/ 31700 w 338138"/>
              <a:gd name="connsiteY9" fmla="*/ 336550 h 336550"/>
              <a:gd name="connsiteX10" fmla="*/ 0 w 338138"/>
              <a:gd name="connsiteY10" fmla="*/ 336550 h 336550"/>
              <a:gd name="connsiteX11" fmla="*/ 52834 w 338138"/>
              <a:gd name="connsiteY11" fmla="*/ 252413 h 336550"/>
              <a:gd name="connsiteX12" fmla="*/ 147936 w 338138"/>
              <a:gd name="connsiteY12" fmla="*/ 49957 h 336550"/>
              <a:gd name="connsiteX13" fmla="*/ 338138 w 338138"/>
              <a:gd name="connsiteY13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8138" h="336550">
                <a:moveTo>
                  <a:pt x="285751" y="30163"/>
                </a:moveTo>
                <a:cubicBezTo>
                  <a:pt x="163888" y="84198"/>
                  <a:pt x="101631" y="204129"/>
                  <a:pt x="81762" y="231806"/>
                </a:cubicBezTo>
                <a:cubicBezTo>
                  <a:pt x="113553" y="190950"/>
                  <a:pt x="271181" y="45978"/>
                  <a:pt x="285751" y="30163"/>
                </a:cubicBezTo>
                <a:close/>
                <a:moveTo>
                  <a:pt x="338138" y="0"/>
                </a:moveTo>
                <a:cubicBezTo>
                  <a:pt x="332855" y="31552"/>
                  <a:pt x="338138" y="82823"/>
                  <a:pt x="289267" y="131465"/>
                </a:cubicBezTo>
                <a:cubicBezTo>
                  <a:pt x="285304" y="135409"/>
                  <a:pt x="281342" y="139353"/>
                  <a:pt x="276058" y="144611"/>
                </a:cubicBezTo>
                <a:cubicBezTo>
                  <a:pt x="232470" y="134094"/>
                  <a:pt x="215299" y="141982"/>
                  <a:pt x="190203" y="166960"/>
                </a:cubicBezTo>
                <a:cubicBezTo>
                  <a:pt x="202091" y="161702"/>
                  <a:pt x="236433" y="165646"/>
                  <a:pt x="245679" y="170904"/>
                </a:cubicBezTo>
                <a:cubicBezTo>
                  <a:pt x="192845" y="214288"/>
                  <a:pt x="110952" y="253727"/>
                  <a:pt x="73967" y="262930"/>
                </a:cubicBezTo>
                <a:cubicBezTo>
                  <a:pt x="73967" y="262930"/>
                  <a:pt x="73967" y="262930"/>
                  <a:pt x="31700" y="336550"/>
                </a:cubicBezTo>
                <a:cubicBezTo>
                  <a:pt x="31700" y="336550"/>
                  <a:pt x="31700" y="336550"/>
                  <a:pt x="0" y="336550"/>
                </a:cubicBezTo>
                <a:cubicBezTo>
                  <a:pt x="0" y="336550"/>
                  <a:pt x="0" y="336550"/>
                  <a:pt x="52834" y="252413"/>
                </a:cubicBezTo>
                <a:cubicBezTo>
                  <a:pt x="63401" y="206400"/>
                  <a:pt x="104348" y="92026"/>
                  <a:pt x="147936" y="49957"/>
                </a:cubicBezTo>
                <a:cubicBezTo>
                  <a:pt x="196807" y="1315"/>
                  <a:pt x="306438" y="5258"/>
                  <a:pt x="3381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23" tIns="45711" rIns="91423" bIns="45711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43014" y="2485488"/>
            <a:ext cx="7625574" cy="23069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（1）了解数据规约的概念和意义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（2）掌握重塑分层索引、降采样的原理与操作逻辑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（3）理解PCA降维的基本思想，能区分特征选择与特征降维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flipH="1">
            <a:off x="5874559" y="-685186"/>
            <a:ext cx="6781080" cy="8387873"/>
            <a:chOff x="-1344978" y="-685187"/>
            <a:chExt cx="6781080" cy="8387873"/>
          </a:xfrm>
        </p:grpSpPr>
        <p:sp>
          <p:nvSpPr>
            <p:cNvPr id="2" name="椭圆 1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574093" y="4429124"/>
              <a:ext cx="2798256" cy="27982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-185195" y="5404454"/>
              <a:ext cx="1351188" cy="13511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666017" y="5533920"/>
              <a:ext cx="1894088" cy="18940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3517229" y="5808598"/>
              <a:ext cx="1894088" cy="18940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625707" y="3733966"/>
              <a:ext cx="817868" cy="81786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2371916" y="4306414"/>
              <a:ext cx="245420" cy="2454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921862" y="3754016"/>
              <a:ext cx="245420" cy="2454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3779290" y="3536976"/>
              <a:ext cx="245420" cy="24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3533870" y="4916451"/>
              <a:ext cx="490840" cy="4908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1742802" y="2512764"/>
            <a:ext cx="3456299" cy="110799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THANK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42800" y="3588903"/>
            <a:ext cx="2060308" cy="1107996"/>
          </a:xfrm>
          <a:prstGeom prst="rect">
            <a:avLst/>
          </a:prstGeom>
          <a:solidFill>
            <a:schemeClr val="accent5"/>
          </a:solidFill>
        </p:spPr>
        <p:txBody>
          <a:bodyPr wrap="none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YOU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UNIT_TABLE_BEAUTIFY" val="smartTable{90bf006d-0fcf-4765-bb3d-4f35329f1522}"/>
  <p:tag name="TABLE_ENDDRAG_ORIGIN_RECT" val="806*109"/>
  <p:tag name="TABLE_ENDDRAG_RECT" val="27*404*806*109"/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UNIT_TABLE_BEAUTIFY" val="smartTable{4fa96a48-6ec2-4eba-9d0c-199722bbfe0f}"/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PLACING_PICTURE_USER_VIEWPORT" val="{&quot;height&quot;:6816,&quot;width&quot;:12288}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AICARD_INVALID" val="Invalid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AICARD_INVALID" val="Invalid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AICARD_INVALID" val="Invalid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AICARD_INVALID" val="Invalid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AICARD_INVALID" val="Invalid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AICARD_INVALID" val="Invalid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AICARD_INVALID" val="Invalid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COMMONDATA" val="eyJoZGlkIjoiNDgyNTJjOTA4YmFjYjEyNWE3NjZlY2U5ZjA2ZWYxYzIifQ=="/>
  <p:tag name="commondata" val="eyJoZGlkIjoiZTE1ZDA5ZjI4N2M1YzQ4MTk4YjhhZDg2YTQ0Yjg4YzUifQ=="/>
</p:tagLst>
</file>

<file path=ppt/theme/theme1.xml><?xml version="1.0" encoding="utf-8"?>
<a:theme xmlns:a="http://schemas.openxmlformats.org/drawingml/2006/main" name="第一PPT，www.1ppt.com">
  <a:themeElements>
    <a:clrScheme name="MOMODA1">
      <a:dk1>
        <a:sysClr val="windowText" lastClr="000000"/>
      </a:dk1>
      <a:lt1>
        <a:sysClr val="window" lastClr="FFFFFF"/>
      </a:lt1>
      <a:dk2>
        <a:srgbClr val="A5A5A5"/>
      </a:dk2>
      <a:lt2>
        <a:srgbClr val="DCD8DC"/>
      </a:lt2>
      <a:accent1>
        <a:srgbClr val="CF5F55"/>
      </a:accent1>
      <a:accent2>
        <a:srgbClr val="F2C06B"/>
      </a:accent2>
      <a:accent3>
        <a:srgbClr val="5F9387"/>
      </a:accent3>
      <a:accent4>
        <a:srgbClr val="97A6AB"/>
      </a:accent4>
      <a:accent5>
        <a:srgbClr val="837664"/>
      </a:accent5>
      <a:accent6>
        <a:srgbClr val="3F3F3F"/>
      </a:accent6>
      <a:hlink>
        <a:srgbClr val="FFFFFF"/>
      </a:hlink>
      <a:folHlink>
        <a:srgbClr val="8C8C8C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3804</Words>
  <Application>WPS 演示</Application>
  <PresentationFormat>自定义</PresentationFormat>
  <Paragraphs>698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Lucida Console</vt:lpstr>
      <vt:lpstr>微软雅黑</vt:lpstr>
      <vt:lpstr>黑体</vt:lpstr>
      <vt:lpstr>等线</vt:lpstr>
      <vt:lpstr>Times New Roman</vt:lpstr>
      <vt:lpstr>U.S. 101</vt:lpstr>
      <vt:lpstr>Segoe Print</vt:lpstr>
      <vt:lpstr>Roboto</vt:lpstr>
      <vt:lpstr>Open Sans Light</vt:lpstr>
      <vt:lpstr>Open Sans</vt:lpstr>
      <vt:lpstr>Wingdings</vt:lpstr>
      <vt:lpstr>Courier New</vt:lpstr>
      <vt:lpstr>楷体</vt:lpstr>
      <vt:lpstr>Arial Unicode MS</vt:lpstr>
      <vt:lpstr>Cambria Math</vt:lpstr>
      <vt:lpstr>MS Mincho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彩色气泡</dc:title>
  <dc:creator>第一PPT</dc:creator>
  <cp:keywords>www.1ppt.com</cp:keywords>
  <cp:lastModifiedBy>关</cp:lastModifiedBy>
  <cp:revision>186</cp:revision>
  <dcterms:created xsi:type="dcterms:W3CDTF">2015-01-07T12:23:00Z</dcterms:created>
  <dcterms:modified xsi:type="dcterms:W3CDTF">2026-06-07T12:18:28Z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E8ABEE2B501A4675A7A6E3674B758BFB</vt:lpwstr>
  </property>
  <property fmtid="{D5CDD505-2E9C-101B-9397-08002B2CF9AE}" pid="3" name="KSOProductBuildVer">
    <vt:lpwstr>2052-12.1.0.16120</vt:lpwstr>
  </property>
</Properties>
</file>