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Override PartName="/customXml/itemProps7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6"/>
  </p:handoutMasterIdLst>
  <p:sldIdLst>
    <p:sldId id="256" r:id="rId3"/>
    <p:sldId id="257" r:id="rId5"/>
    <p:sldId id="546" r:id="rId6"/>
    <p:sldId id="816" r:id="rId7"/>
    <p:sldId id="817" r:id="rId8"/>
    <p:sldId id="818" r:id="rId9"/>
    <p:sldId id="820" r:id="rId10"/>
    <p:sldId id="821" r:id="rId11"/>
    <p:sldId id="822" r:id="rId12"/>
    <p:sldId id="823" r:id="rId13"/>
    <p:sldId id="825" r:id="rId14"/>
    <p:sldId id="826" r:id="rId15"/>
    <p:sldId id="827" r:id="rId16"/>
    <p:sldId id="830" r:id="rId17"/>
    <p:sldId id="832" r:id="rId18"/>
    <p:sldId id="831" r:id="rId19"/>
    <p:sldId id="833" r:id="rId20"/>
    <p:sldId id="834" r:id="rId21"/>
    <p:sldId id="835" r:id="rId22"/>
    <p:sldId id="836" r:id="rId23"/>
    <p:sldId id="837" r:id="rId24"/>
    <p:sldId id="838" r:id="rId25"/>
    <p:sldId id="839" r:id="rId26"/>
    <p:sldId id="840" r:id="rId27"/>
    <p:sldId id="841" r:id="rId28"/>
    <p:sldId id="842" r:id="rId29"/>
    <p:sldId id="843" r:id="rId30"/>
    <p:sldId id="844" r:id="rId31"/>
    <p:sldId id="845" r:id="rId32"/>
    <p:sldId id="848" r:id="rId33"/>
    <p:sldId id="726" r:id="rId34"/>
    <p:sldId id="278" r:id="rId35"/>
  </p:sldIdLst>
  <p:sldSz cx="12192000" cy="6858000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8" userDrawn="1">
          <p15:clr>
            <a:srgbClr val="A4A3A4"/>
          </p15:clr>
        </p15:guide>
        <p15:guide id="2" pos="375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晓娟" initials="wang" lastIdx="8" clrIdx="0"/>
  <p:cmAuthor id="1" name="Lv0593" initials="L" lastIdx="14" clrIdx="1"/>
  <p:cmAuthor id="2" name="甘金龙" initials="甘金龙" lastIdx="1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5F55"/>
    <a:srgbClr val="5F9387"/>
    <a:srgbClr val="F2C06B"/>
    <a:srgbClr val="97A6AB"/>
    <a:srgbClr val="C41349"/>
    <a:srgbClr val="FFFB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-402" y="-1608"/>
      </p:cViewPr>
      <p:guideLst>
        <p:guide orient="horz" pos="2278"/>
        <p:guide pos="37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gs" Target="tags/tag80.xml"/><Relationship Id="rId42" Type="http://schemas.openxmlformats.org/officeDocument/2006/relationships/customXml" Target="../customXml/item1.xml"/><Relationship Id="rId41" Type="http://schemas.openxmlformats.org/officeDocument/2006/relationships/customXmlProps" Target="../customXml/itemProps79.xml"/><Relationship Id="rId4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C0D6D-A908-48C6-983D-90F2BD11E2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BB924-28C1-4EF7-A019-613D541E4AA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我们先进入第一部分的学习，什么是数据预处理？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我们先进入第一部分的学习，什么是数据预处理？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1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1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我们先进入第一部分的学习，什么是数据预处理？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1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1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1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1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1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1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1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1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1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我们先进入第一部分的学习，什么是数据预处理？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sklearn中的模型构建训练完成后，不同的模型能够根据训练的数据输出不同的属性，MLPClassifier神经网络模型的主要属性见表。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我们先进入第一部分的学习，什么是数据预处理？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结合模型评价的相关知识，使用精确率（precision）、召回率（recall）、准确率（accuracy）和F1值（精确率和召回率的调和平均数）来衡量模型，此时评价的效果较为客观、准确。同时结合ROC曲线，更加直观地评价模型的效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 userDrawn="1"/>
        </p:nvGrpSpPr>
        <p:grpSpPr>
          <a:xfrm>
            <a:off x="-397123" y="-538250"/>
            <a:ext cx="2555690" cy="2277867"/>
            <a:chOff x="-1344978" y="-685187"/>
            <a:chExt cx="6781080" cy="6043921"/>
          </a:xfrm>
        </p:grpSpPr>
        <p:sp>
          <p:nvSpPr>
            <p:cNvPr id="42" name="椭圆 41"/>
            <p:cNvSpPr/>
            <p:nvPr/>
          </p:nvSpPr>
          <p:spPr>
            <a:xfrm>
              <a:off x="-185195" y="-312516"/>
              <a:ext cx="2245488" cy="224548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-1344978" y="-144876"/>
              <a:ext cx="2689956" cy="26899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494840" y="1571529"/>
              <a:ext cx="1318720" cy="13187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-844556" y="2481611"/>
              <a:ext cx="1947513" cy="19475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771092" y="283376"/>
              <a:ext cx="2606873" cy="260687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344978" y="-685187"/>
              <a:ext cx="1644608" cy="164460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-574093" y="4228496"/>
              <a:ext cx="1130238" cy="113023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3779289" y="156746"/>
              <a:ext cx="1656813" cy="165681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5" name="直接连接符 54"/>
          <p:cNvCxnSpPr/>
          <p:nvPr userDrawn="1"/>
        </p:nvCxnSpPr>
        <p:spPr>
          <a:xfrm>
            <a:off x="2593542" y="804428"/>
            <a:ext cx="82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 userDrawn="1"/>
        </p:nvSpPr>
        <p:spPr>
          <a:xfrm rot="16200000">
            <a:off x="644651" y="5254244"/>
            <a:ext cx="2245488" cy="22454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 rot="16200000">
            <a:off x="2078817" y="6403894"/>
            <a:ext cx="2689956" cy="268995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/>
        </p:nvSpPr>
        <p:spPr>
          <a:xfrm rot="16200000">
            <a:off x="3817256" y="5935311"/>
            <a:ext cx="1318720" cy="13187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 userDrawn="1"/>
        </p:nvSpPr>
        <p:spPr>
          <a:xfrm rot="16200000">
            <a:off x="4925647" y="6645920"/>
            <a:ext cx="1947513" cy="1947513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 userDrawn="1"/>
        </p:nvSpPr>
        <p:spPr>
          <a:xfrm rot="16200000">
            <a:off x="-208096" y="4762428"/>
            <a:ext cx="1644608" cy="16446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 userDrawn="1"/>
        </p:nvSpPr>
        <p:spPr>
          <a:xfrm rot="16200000">
            <a:off x="6635340" y="6243404"/>
            <a:ext cx="1130239" cy="1130239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 userDrawn="1"/>
        </p:nvSpPr>
        <p:spPr>
          <a:xfrm rot="16200000">
            <a:off x="7357899" y="5524708"/>
            <a:ext cx="2798256" cy="279825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 userDrawn="1"/>
        </p:nvSpPr>
        <p:spPr>
          <a:xfrm rot="16200000">
            <a:off x="7991706" y="6582879"/>
            <a:ext cx="1351188" cy="13511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 userDrawn="1"/>
        </p:nvSpPr>
        <p:spPr>
          <a:xfrm rot="16200000">
            <a:off x="9125925" y="4862025"/>
            <a:ext cx="1894088" cy="1894088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 userDrawn="1"/>
        </p:nvSpPr>
        <p:spPr>
          <a:xfrm rot="16200000">
            <a:off x="10510752" y="5474419"/>
            <a:ext cx="1894088" cy="1894088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 userDrawn="1"/>
        </p:nvSpPr>
        <p:spPr>
          <a:xfrm rot="16200000">
            <a:off x="5908155" y="5671013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 userDrawn="1"/>
        </p:nvSpPr>
        <p:spPr>
          <a:xfrm rot="16200000">
            <a:off x="6480603" y="6497251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16200000">
            <a:off x="5838946" y="6858047"/>
            <a:ext cx="334678" cy="3346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椭圆 25"/>
          <p:cNvSpPr/>
          <p:nvPr userDrawn="1"/>
        </p:nvSpPr>
        <p:spPr>
          <a:xfrm rot="16200000">
            <a:off x="5711165" y="5089878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 userDrawn="1"/>
        </p:nvSpPr>
        <p:spPr>
          <a:xfrm rot="16200000">
            <a:off x="7090639" y="5089877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 userDrawn="1"/>
        </p:nvGrpSpPr>
        <p:grpSpPr>
          <a:xfrm>
            <a:off x="-388233" y="-538250"/>
            <a:ext cx="2555690" cy="2277867"/>
            <a:chOff x="-1344978" y="-685187"/>
            <a:chExt cx="6781080" cy="6043921"/>
          </a:xfrm>
        </p:grpSpPr>
        <p:sp>
          <p:nvSpPr>
            <p:cNvPr id="42" name="椭圆 41"/>
            <p:cNvSpPr/>
            <p:nvPr/>
          </p:nvSpPr>
          <p:spPr>
            <a:xfrm>
              <a:off x="-185195" y="-312516"/>
              <a:ext cx="2245488" cy="224548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-1344978" y="-144876"/>
              <a:ext cx="2689956" cy="26899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494840" y="1571529"/>
              <a:ext cx="1318720" cy="13187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-844556" y="2481611"/>
              <a:ext cx="1947513" cy="19475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771092" y="283376"/>
              <a:ext cx="2606873" cy="260687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344978" y="-685187"/>
              <a:ext cx="1644608" cy="164460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-574093" y="4228496"/>
              <a:ext cx="1130238" cy="113023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3779289" y="156746"/>
              <a:ext cx="1656813" cy="165681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55" name="直接连接符 54"/>
          <p:cNvCxnSpPr/>
          <p:nvPr userDrawn="1"/>
        </p:nvCxnSpPr>
        <p:spPr>
          <a:xfrm>
            <a:off x="2593542" y="804428"/>
            <a:ext cx="82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3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5"/>
            <a:ext cx="2743200" cy="365125"/>
          </a:xfrm>
        </p:spPr>
        <p:txBody>
          <a:bodyPr/>
          <a:lstStyle/>
          <a:p>
            <a:fld id="{CE2F20FC-145E-4034-86AC-8B4FEA629A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5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5"/>
            <a:ext cx="2743200" cy="365125"/>
          </a:xfrm>
        </p:spPr>
        <p:txBody>
          <a:bodyPr/>
          <a:lstStyle/>
          <a:p>
            <a:fld id="{FF5917A1-3B14-48C2-8A2E-F3CB7EC452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5"/>
            <a:ext cx="2743200" cy="365125"/>
          </a:xfrm>
        </p:spPr>
        <p:txBody>
          <a:bodyPr/>
          <a:lstStyle/>
          <a:p>
            <a:fld id="{CE2F20FC-145E-4034-86AC-8B4FEA629A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5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5"/>
            <a:ext cx="2743200" cy="365125"/>
          </a:xfrm>
        </p:spPr>
        <p:txBody>
          <a:bodyPr/>
          <a:lstStyle/>
          <a:p>
            <a:fld id="{FF5917A1-3B14-48C2-8A2E-F3CB7EC452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5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5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5"/>
            <a:ext cx="2743200" cy="365125"/>
          </a:xfrm>
        </p:spPr>
        <p:txBody>
          <a:bodyPr/>
          <a:lstStyle/>
          <a:p>
            <a:fld id="{CE2F20FC-145E-4034-86AC-8B4FEA629A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5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5"/>
            <a:ext cx="2743200" cy="365125"/>
          </a:xfrm>
        </p:spPr>
        <p:txBody>
          <a:bodyPr/>
          <a:lstStyle/>
          <a:p>
            <a:fld id="{FF5917A1-3B14-48C2-8A2E-F3CB7EC452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5"/>
            <a:ext cx="2743200" cy="365125"/>
          </a:xfrm>
        </p:spPr>
        <p:txBody>
          <a:bodyPr/>
          <a:lstStyle/>
          <a:p>
            <a:fld id="{CE2F20FC-145E-4034-86AC-8B4FEA629A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5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5"/>
            <a:ext cx="2743200" cy="365125"/>
          </a:xfrm>
        </p:spPr>
        <p:txBody>
          <a:bodyPr/>
          <a:lstStyle/>
          <a:p>
            <a:fld id="{FF5917A1-3B14-48C2-8A2E-F3CB7EC452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5"/>
            <a:ext cx="2743200" cy="365125"/>
          </a:xfrm>
        </p:spPr>
        <p:txBody>
          <a:bodyPr/>
          <a:lstStyle/>
          <a:p>
            <a:fld id="{CE2F20FC-145E-4034-86AC-8B4FEA629A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5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5"/>
            <a:ext cx="2743200" cy="365125"/>
          </a:xfrm>
        </p:spPr>
        <p:txBody>
          <a:bodyPr/>
          <a:lstStyle/>
          <a:p>
            <a:fld id="{FF5917A1-3B14-48C2-8A2E-F3CB7EC452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0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5"/>
            <a:ext cx="2743200" cy="365125"/>
          </a:xfrm>
        </p:spPr>
        <p:txBody>
          <a:bodyPr/>
          <a:lstStyle/>
          <a:p>
            <a:fld id="{CE2F20FC-145E-4034-86AC-8B4FEA629A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5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5"/>
            <a:ext cx="2743200" cy="365125"/>
          </a:xfrm>
        </p:spPr>
        <p:txBody>
          <a:bodyPr/>
          <a:lstStyle/>
          <a:p>
            <a:fld id="{FF5917A1-3B14-48C2-8A2E-F3CB7EC452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0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5"/>
            <a:ext cx="2743200" cy="365125"/>
          </a:xfrm>
        </p:spPr>
        <p:txBody>
          <a:bodyPr/>
          <a:lstStyle/>
          <a:p>
            <a:fld id="{CE2F20FC-145E-4034-86AC-8B4FEA629A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5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5"/>
            <a:ext cx="2743200" cy="365125"/>
          </a:xfrm>
        </p:spPr>
        <p:txBody>
          <a:bodyPr/>
          <a:lstStyle/>
          <a:p>
            <a:fld id="{FF5917A1-3B14-48C2-8A2E-F3CB7EC452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5"/>
            <a:ext cx="2743200" cy="365125"/>
          </a:xfrm>
        </p:spPr>
        <p:txBody>
          <a:bodyPr/>
          <a:lstStyle/>
          <a:p>
            <a:fld id="{CE2F20FC-145E-4034-86AC-8B4FEA629A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5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5"/>
            <a:ext cx="2743200" cy="365125"/>
          </a:xfrm>
        </p:spPr>
        <p:txBody>
          <a:bodyPr/>
          <a:lstStyle/>
          <a:p>
            <a:fld id="{FF5917A1-3B14-48C2-8A2E-F3CB7EC452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7"/>
            <a:ext cx="2628900" cy="581183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5" y="365127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5"/>
            <a:ext cx="2743200" cy="365125"/>
          </a:xfrm>
        </p:spPr>
        <p:txBody>
          <a:bodyPr/>
          <a:lstStyle/>
          <a:p>
            <a:fld id="{CE2F20FC-145E-4034-86AC-8B4FEA629A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5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5"/>
            <a:ext cx="2743200" cy="365125"/>
          </a:xfrm>
        </p:spPr>
        <p:txBody>
          <a:bodyPr/>
          <a:lstStyle/>
          <a:p>
            <a:fld id="{FF5917A1-3B14-48C2-8A2E-F3CB7EC452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程序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9937750" y="6392863"/>
            <a:ext cx="57150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fld id="{376F0B09-1AF6-4F22-B304-52F7D4F1CF7A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8" name="直接连接符 19"/>
          <p:cNvCxnSpPr/>
          <p:nvPr/>
        </p:nvCxnSpPr>
        <p:spPr>
          <a:xfrm>
            <a:off x="10509250" y="6508750"/>
            <a:ext cx="1019175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4"/>
          <p:cNvCxnSpPr/>
          <p:nvPr/>
        </p:nvCxnSpPr>
        <p:spPr>
          <a:xfrm flipV="1">
            <a:off x="450215" y="6508750"/>
            <a:ext cx="9488170" cy="635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utoShape 23"/>
          <p:cNvSpPr>
            <a:spLocks noChangeArrowheads="1"/>
          </p:cNvSpPr>
          <p:nvPr/>
        </p:nvSpPr>
        <p:spPr bwMode="auto">
          <a:xfrm>
            <a:off x="246063" y="915988"/>
            <a:ext cx="9596438" cy="4603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AutoShape 23"/>
          <p:cNvSpPr>
            <a:spLocks noChangeArrowheads="1"/>
          </p:cNvSpPr>
          <p:nvPr/>
        </p:nvSpPr>
        <p:spPr bwMode="auto">
          <a:xfrm>
            <a:off x="9842500" y="915988"/>
            <a:ext cx="1989138" cy="4603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23819" y="1817174"/>
            <a:ext cx="11107601" cy="4339721"/>
          </a:xfrm>
        </p:spPr>
        <p:txBody>
          <a:bodyPr>
            <a:noAutofit/>
          </a:bodyPr>
          <a:lstStyle>
            <a:lvl1pPr marL="362585" indent="-362585">
              <a:lnSpc>
                <a:spcPct val="150000"/>
              </a:lnSpc>
              <a:buClr>
                <a:srgbClr val="032089"/>
              </a:buClr>
              <a:buFont typeface="Arial" panose="020B0604020202020204" pitchFamily="34" charset="0"/>
              <a:buChar char="•"/>
              <a:defRPr sz="1800" b="0">
                <a:latin typeface="Lucida Console" panose="020B0609040504020204" pitchFamily="49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2330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905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905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905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4876" y="359079"/>
            <a:ext cx="10972801" cy="528176"/>
          </a:xfrm>
        </p:spPr>
        <p:txBody>
          <a:bodyPr/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423819" y="1138980"/>
            <a:ext cx="11107601" cy="42646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2000" b="0" dirty="0" smtClean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</p:spPr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995EDEF-FB04-4CA9-841B-66EFF168877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 flipV="1">
            <a:off x="0" y="757553"/>
            <a:ext cx="12192000" cy="76201"/>
          </a:xfrm>
          <a:prstGeom prst="rect">
            <a:avLst/>
          </a:prstGeom>
          <a:gradFill>
            <a:gsLst>
              <a:gs pos="100000">
                <a:srgbClr val="FBD786"/>
              </a:gs>
              <a:gs pos="0">
                <a:srgbClr val="00416A">
                  <a:alpha val="94902"/>
                </a:srgbClr>
              </a:gs>
              <a:gs pos="40000">
                <a:srgbClr val="E4E5E6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6634901"/>
            <a:ext cx="12192000" cy="223099"/>
          </a:xfrm>
          <a:prstGeom prst="rect">
            <a:avLst/>
          </a:prstGeom>
          <a:gradFill flip="none" rotWithShape="1">
            <a:gsLst>
              <a:gs pos="99000">
                <a:srgbClr val="00416A"/>
              </a:gs>
              <a:gs pos="0">
                <a:srgbClr val="E4E5E6"/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86489" y="6603299"/>
            <a:ext cx="24481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  <a:t>初心至善 匠心育人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9163935" y="6582979"/>
            <a:ext cx="3028066" cy="30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锋云智慧官网</a:t>
            </a:r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www.fengyunedu.cn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156" y="160055"/>
            <a:ext cx="1527325" cy="46157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.xml"/><Relationship Id="rId2" Type="http://schemas.openxmlformats.org/officeDocument/2006/relationships/image" Target="../media/image3.jpeg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21.xml"/><Relationship Id="rId5" Type="http://schemas.openxmlformats.org/officeDocument/2006/relationships/image" Target="../media/image5.png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image" Target="../media/image7.png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55.xml"/><Relationship Id="rId6" Type="http://schemas.openxmlformats.org/officeDocument/2006/relationships/image" Target="../media/image9.png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image" Target="../media/image11.jpeg"/><Relationship Id="rId7" Type="http://schemas.openxmlformats.org/officeDocument/2006/relationships/tags" Target="../tags/tag65.xml"/><Relationship Id="rId6" Type="http://schemas.openxmlformats.org/officeDocument/2006/relationships/image" Target="../media/image10.wmf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2" Type="http://schemas.openxmlformats.org/officeDocument/2006/relationships/notesSlide" Target="../notesSlides/notesSlide19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67.xml"/><Relationship Id="rId1" Type="http://schemas.openxmlformats.org/officeDocument/2006/relationships/tags" Target="../tags/tag60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1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>
            <a:off x="523550" y="-312516"/>
            <a:ext cx="2245488" cy="22454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-636233" y="-144876"/>
            <a:ext cx="2689956" cy="268995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203585" y="1571529"/>
            <a:ext cx="1318720" cy="13187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-135807" y="2481617"/>
            <a:ext cx="1947513" cy="194751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479844" y="283383"/>
            <a:ext cx="2606873" cy="260687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439315" y="-685187"/>
            <a:ext cx="1644608" cy="16446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34654" y="4228500"/>
            <a:ext cx="1130239" cy="11302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134652" y="4429124"/>
            <a:ext cx="2798256" cy="279825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523551" y="5404455"/>
            <a:ext cx="1351188" cy="13511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2374762" y="5533920"/>
            <a:ext cx="1894088" cy="18940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3972588" y="5808599"/>
            <a:ext cx="1894088" cy="1894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3334452" y="3733967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3080662" y="4306415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2630608" y="3754017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4488036" y="3536977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4242616" y="4916451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4488040" y="156751"/>
            <a:ext cx="1656813" cy="1656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6619240" y="3049905"/>
            <a:ext cx="537464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4800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综合</a:t>
            </a:r>
            <a:r>
              <a:rPr lang="zh-CN" sz="4800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实战</a:t>
            </a:r>
            <a:endParaRPr lang="zh-CN" sz="4800" b="1" kern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6619828" y="4054567"/>
            <a:ext cx="465410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619828" y="4229222"/>
            <a:ext cx="4318827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  <a:t>数据科学与大数据技术</a:t>
            </a:r>
            <a:r>
              <a:rPr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  <a:t>                                             </a:t>
            </a:r>
            <a:r>
              <a:rPr lang="zh-CN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  <a:t>关可欣</a:t>
            </a:r>
            <a:endParaRPr lang="zh-CN" altLang="en-US" sz="1400" dirty="0" err="1">
              <a:solidFill>
                <a:schemeClr val="tx1">
                  <a:lumMod val="50000"/>
                  <a:lumOff val="50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2" name="图片 2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06995" y="156845"/>
            <a:ext cx="4286885" cy="13004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7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8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3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3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3239280" y="2514144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F2C0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2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2870980" y="3397712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F2C0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2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144832" y="2491967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36090"/>
              <a:ext cx="2827147" cy="385415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探索数据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rgbClr val="97A6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776532" y="3380886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30243"/>
              <a:ext cx="2827147" cy="385415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数据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预处理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rgbClr val="97A6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-397123" y="-538250"/>
            <a:ext cx="2555690" cy="2296167"/>
            <a:chOff x="-1344978" y="-685187"/>
            <a:chExt cx="6781080" cy="6092478"/>
          </a:xfrm>
        </p:grpSpPr>
        <p:sp>
          <p:nvSpPr>
            <p:cNvPr id="41" name="椭圆 40"/>
            <p:cNvSpPr/>
            <p:nvPr/>
          </p:nvSpPr>
          <p:spPr>
            <a:xfrm>
              <a:off x="-185195" y="-312516"/>
              <a:ext cx="2245488" cy="224548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-1344978" y="-144876"/>
              <a:ext cx="2689956" cy="26899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494840" y="1571529"/>
              <a:ext cx="1318720" cy="13187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-844556" y="2481611"/>
              <a:ext cx="1947513" cy="19475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771092" y="283376"/>
              <a:ext cx="2606873" cy="260687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344978" y="-685187"/>
              <a:ext cx="1644608" cy="164460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-574093" y="4228496"/>
              <a:ext cx="1130238" cy="113023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2625707" y="3733966"/>
              <a:ext cx="817868" cy="81786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2371916" y="4306414"/>
              <a:ext cx="245420" cy="24542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921862" y="3754016"/>
              <a:ext cx="245420" cy="2454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3779290" y="3536976"/>
              <a:ext cx="245420" cy="2454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3533870" y="4916451"/>
              <a:ext cx="490840" cy="4908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3779289" y="156746"/>
              <a:ext cx="1656813" cy="165681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72" name="直接连接符 71"/>
          <p:cNvCxnSpPr/>
          <p:nvPr/>
        </p:nvCxnSpPr>
        <p:spPr>
          <a:xfrm>
            <a:off x="2593542" y="804428"/>
            <a:ext cx="82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2593383" y="312528"/>
            <a:ext cx="4690556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591705" y="1640384"/>
            <a:ext cx="1192190" cy="613062"/>
            <a:chOff x="2215144" y="982844"/>
            <a:chExt cx="1244730" cy="842780"/>
          </a:xfrm>
        </p:grpSpPr>
        <p:sp>
          <p:nvSpPr>
            <p:cNvPr id="9" name="平行四边形 8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F2C0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497257" y="1618207"/>
            <a:ext cx="5142331" cy="613062"/>
            <a:chOff x="4315150" y="953426"/>
            <a:chExt cx="3857250" cy="540057"/>
          </a:xfrm>
        </p:grpSpPr>
        <p:sp>
          <p:nvSpPr>
            <p:cNvPr id="12" name="矩形 11"/>
            <p:cNvSpPr/>
            <p:nvPr/>
          </p:nvSpPr>
          <p:spPr>
            <a:xfrm>
              <a:off x="4841196" y="1036090"/>
              <a:ext cx="2827147" cy="385415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lang="zh-CN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项目背景与</a:t>
              </a:r>
              <a:r>
                <a:rPr lang="zh-CN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目标</a:t>
              </a:r>
              <a:endParaRPr lang="zh-CN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rgbClr val="97A6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572530" y="4260677"/>
            <a:ext cx="1192190" cy="618406"/>
            <a:chOff x="2215144" y="2026500"/>
            <a:chExt cx="1244730" cy="850129"/>
          </a:xfrm>
        </p:grpSpPr>
        <p:sp>
          <p:nvSpPr>
            <p:cNvPr id="21" name="平行四边形 20"/>
            <p:cNvSpPr/>
            <p:nvPr>
              <p:custDataLst>
                <p:tags r:id="rId1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F2C0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2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2393075" y="2026500"/>
              <a:ext cx="1066799" cy="802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478082" y="4243851"/>
            <a:ext cx="5142331" cy="613062"/>
            <a:chOff x="4315150" y="1647579"/>
            <a:chExt cx="3857250" cy="540057"/>
          </a:xfrm>
        </p:grpSpPr>
        <p:sp>
          <p:nvSpPr>
            <p:cNvPr id="24" name="矩形 23"/>
            <p:cNvSpPr/>
            <p:nvPr>
              <p:custDataLst>
                <p:tags r:id="rId3"/>
              </p:custDataLst>
            </p:nvPr>
          </p:nvSpPr>
          <p:spPr>
            <a:xfrm>
              <a:off x="4841196" y="1730243"/>
              <a:ext cx="2827147" cy="385415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构建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模型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25" name="平行四边形 24"/>
            <p:cNvSpPr/>
            <p:nvPr>
              <p:custDataLst>
                <p:tags r:id="rId4"/>
              </p:custDataLst>
            </p:nvPr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rgbClr val="97A6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251855" y="5064587"/>
            <a:ext cx="1192190" cy="618406"/>
            <a:chOff x="2215144" y="2026500"/>
            <a:chExt cx="1244730" cy="850129"/>
          </a:xfrm>
        </p:grpSpPr>
        <p:sp>
          <p:nvSpPr>
            <p:cNvPr id="26" name="平行四边形 25"/>
            <p:cNvSpPr/>
            <p:nvPr>
              <p:custDataLst>
                <p:tags r:id="rId5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F2C0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7" name="文本框 10"/>
            <p:cNvSpPr txBox="1"/>
            <p:nvPr>
              <p:custDataLst>
                <p:tags r:id="rId6"/>
              </p:custDataLst>
            </p:nvPr>
          </p:nvSpPr>
          <p:spPr>
            <a:xfrm>
              <a:off x="2393075" y="2026500"/>
              <a:ext cx="1066799" cy="802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157407" y="5047761"/>
            <a:ext cx="5142331" cy="613062"/>
            <a:chOff x="4315150" y="1647579"/>
            <a:chExt cx="3857250" cy="540057"/>
          </a:xfrm>
        </p:grpSpPr>
        <p:sp>
          <p:nvSpPr>
            <p:cNvPr id="29" name="矩形 28"/>
            <p:cNvSpPr/>
            <p:nvPr>
              <p:custDataLst>
                <p:tags r:id="rId7"/>
              </p:custDataLst>
            </p:nvPr>
          </p:nvSpPr>
          <p:spPr>
            <a:xfrm>
              <a:off x="4841196" y="1730243"/>
              <a:ext cx="2827147" cy="385415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模型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评估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30" name="平行四边形 29"/>
            <p:cNvSpPr/>
            <p:nvPr>
              <p:custDataLst>
                <p:tags r:id="rId8"/>
              </p:custDataLst>
            </p:nvPr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rgbClr val="97A6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046703" y="845724"/>
            <a:ext cx="2245488" cy="22454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3886921" y="1013365"/>
            <a:ext cx="2689956" cy="268995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4258148" y="2729569"/>
            <a:ext cx="1947513" cy="194751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7002996" y="1441623"/>
            <a:ext cx="2606873" cy="260687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6576876" y="473053"/>
            <a:ext cx="1644608" cy="16446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372517" y="2863156"/>
            <a:ext cx="1130239" cy="11302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866883" y="4503323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7723471" y="4325230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153761" y="4912257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487154" y="4570167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8765768" y="6074691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9011193" y="1314991"/>
            <a:ext cx="1656813" cy="1656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050406" y="2352147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375587" y="3104117"/>
            <a:ext cx="446864" cy="4468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2136206" y="2457951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1569022" y="2863153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3958568" y="3534632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7347622" y="1076999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9614029" y="3517142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8754995" y="307562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8509575" y="1687036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763797" y="2096797"/>
            <a:ext cx="2664415" cy="26644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16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341229" y="5323959"/>
            <a:ext cx="5509551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/>
          <a:srcRect t="5676"/>
          <a:stretch>
            <a:fillRect/>
          </a:stretch>
        </p:blipFill>
        <p:spPr>
          <a:xfrm>
            <a:off x="3729355" y="4212590"/>
            <a:ext cx="4320000" cy="244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" name="Title 1"/>
          <p:cNvSpPr txBox="1"/>
          <p:nvPr>
            <p:custDataLst>
              <p:tags r:id="rId3"/>
            </p:custDataLst>
          </p:nvPr>
        </p:nvSpPr>
        <p:spPr>
          <a:xfrm>
            <a:off x="2934970" y="266700"/>
            <a:ext cx="316103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项目</a:t>
            </a:r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背景</a:t>
            </a:r>
            <a:endParaRPr lang="zh-CN" altLang="zh-CN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03300" y="1135380"/>
            <a:ext cx="1091628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行业现状：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自1988年首台热水器诞生至今，行业竞争激烈，市场正被资金、渠道、品牌占优的综合家电巨头逐步吞食，呈现“弱肉强食”的丛林法则。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竞争困境：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市场份额向龙头企业集中，普通企业面临被“蚕食鲸吞”的压力。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突围策略：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企业必须走产品差异化路线，提升技术、质量、功能卖点与外观，并从用户使用行为出发优化产品功能，才能在竞争中脱颖而出。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934970" y="266700"/>
            <a:ext cx="316103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项目目标</a:t>
            </a:r>
            <a:endParaRPr lang="zh-CN" altLang="zh-CN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23315" y="1822450"/>
            <a:ext cx="9879330" cy="21583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对用户的洗浴事件进行识别，根据识别结果比较不同客户群的客户使用习惯，加深对客户的理解。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对不同的客户群提供最适合的个性化产品，改进新产品的智能化的研发和制定相应的营销策略。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934970" y="266700"/>
            <a:ext cx="316103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项目分析</a:t>
            </a:r>
            <a:endParaRPr lang="zh-CN" altLang="zh-CN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127125" y="5227320"/>
            <a:ext cx="9769475" cy="112458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p>
            <a:pPr marL="0" indent="0" algn="just">
              <a:lnSpc>
                <a:spcPct val="140000"/>
              </a:lnSpc>
              <a:buNone/>
            </a:pPr>
            <a:r>
              <a:rPr lang="zh-CN" altLang="en-US" sz="2400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经过实验分析，热水器设定温度为50摄氏度时，一次普通的洗浴时长为15分钟，总用水时长10分钟左右，热水的使用量为10~15升。</a:t>
            </a:r>
            <a:endParaRPr lang="zh-CN" altLang="en-US" sz="2400">
              <a:solidFill>
                <a:srgbClr val="CF5F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27760" y="1205865"/>
            <a:ext cx="9768840" cy="3989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ts val="3800"/>
              </a:lnSpc>
            </a:pPr>
            <a:r>
              <a:rPr lang="en-US" altLang="zh-CN" sz="2400" b="1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400" b="1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数据采集规则</a:t>
            </a:r>
            <a:endParaRPr lang="zh-CN" altLang="en-US" sz="2400" b="1">
              <a:solidFill>
                <a:srgbClr val="CF5F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ts val="38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热水器在状态改变或有水流时，每2秒采集一条流水数据，数据来源于洗手、洗菜、洗浴等各类用水事件。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ts val="3800"/>
              </a:lnSpc>
            </a:pPr>
            <a:r>
              <a:rPr lang="en-US" altLang="zh-CN" sz="2400" b="1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400" b="1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用水事件划分</a:t>
            </a:r>
            <a:endParaRPr lang="zh-CN" altLang="en-US" sz="2400" b="1">
              <a:solidFill>
                <a:srgbClr val="CF5F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ts val="38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根据水流量和停顿时间间隔，将数据划分为不同时间区间，每个区间视为一次完整用水事件。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ts val="3800"/>
              </a:lnSpc>
            </a:pPr>
            <a:r>
              <a:rPr lang="en-US" altLang="zh-CN" sz="2400" b="1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2400" b="1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洗浴事件识别</a:t>
            </a:r>
            <a:endParaRPr lang="zh-CN" altLang="en-US" sz="2400" b="1">
              <a:solidFill>
                <a:srgbClr val="CF5F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ts val="38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从独立的用水事件中，识别出属于洗浴的事件。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54735" y="1096645"/>
            <a:ext cx="94970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热水器用户用水事件划分与识别案例的总体流程如下图所示： 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51" name="F35B0BEE-F18A-47BB-8FCB-E00DA2F2635D-1" descr="C:/Users/pc/AppData/Local/Temp/wpp.BKcTUB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5935" y="1970405"/>
            <a:ext cx="8074660" cy="3800475"/>
          </a:xfrm>
          <a:prstGeom prst="rect">
            <a:avLst/>
          </a:prstGeom>
        </p:spPr>
      </p:pic>
      <p:sp>
        <p:nvSpPr>
          <p:cNvPr id="31" name="Title 1"/>
          <p:cNvSpPr txBox="1"/>
          <p:nvPr>
            <p:custDataLst>
              <p:tags r:id="rId2"/>
            </p:custDataLst>
          </p:nvPr>
        </p:nvSpPr>
        <p:spPr>
          <a:xfrm>
            <a:off x="2934970" y="266700"/>
            <a:ext cx="316103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项目总体流程</a:t>
            </a:r>
            <a:endParaRPr lang="zh-CN" altLang="zh-CN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046703" y="845724"/>
            <a:ext cx="2245488" cy="22454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3886921" y="1013365"/>
            <a:ext cx="2689956" cy="268995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4258148" y="2729569"/>
            <a:ext cx="1947513" cy="194751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7002996" y="1441623"/>
            <a:ext cx="2606873" cy="260687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6576876" y="473053"/>
            <a:ext cx="1644608" cy="16446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372517" y="2863156"/>
            <a:ext cx="1130239" cy="11302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866883" y="4503323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7723471" y="4325230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153761" y="4912257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487154" y="4570167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8765768" y="6074691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9011193" y="1314991"/>
            <a:ext cx="1656813" cy="1656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050406" y="2352147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375587" y="3104117"/>
            <a:ext cx="446864" cy="4468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2136206" y="2457951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1569022" y="2863153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3958568" y="3534632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7347622" y="1076999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9614029" y="3517142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8754995" y="307562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8509575" y="1687036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763797" y="2096797"/>
            <a:ext cx="2664415" cy="26644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6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341229" y="5323959"/>
            <a:ext cx="5509551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探索数据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934970" y="266700"/>
            <a:ext cx="316103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认识数据集</a:t>
            </a:r>
            <a:endParaRPr lang="zh-CN" altLang="zh-CN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44245" y="1405255"/>
            <a:ext cx="10781665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该厂商想根据其采集的用户的用水数据，分析用户的用水行为特征，由于用户不仅使用热水器来洗浴，而且包括了洗手、洗脸、刷牙、洗菜、做饭等用水行为，所以热水器采集到的数据来自各种不同的用水事件。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907415" y="3342005"/>
            <a:ext cx="59950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原始数据文件名称：original_data.xls。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热水器采集到部分用户用水数据如右图所示。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7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347460" y="3342005"/>
            <a:ext cx="4958715" cy="31654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981075" y="1006475"/>
            <a:ext cx="3434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1．数据集介绍</a:t>
            </a:r>
            <a:endParaRPr lang="zh-CN" altLang="en-US" sz="2400" b="1">
              <a:solidFill>
                <a:srgbClr val="CF5F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934970" y="266700"/>
            <a:ext cx="316103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认识数据集</a:t>
            </a:r>
            <a:endParaRPr lang="zh-CN" altLang="zh-CN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44245" y="1405255"/>
            <a:ext cx="1109980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数据集共12个属性：热水器编码、发生时间、开关状态、加热中、保温中、有无水流、实际温度、热水量、水流量、节能模式、加热剩余时间、当前设置温度。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81075" y="1006475"/>
            <a:ext cx="3434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400" b="1">
                <a:solidFill>
                  <a:srgbClr val="CF5F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数据特征</a:t>
            </a:r>
            <a:endParaRPr lang="zh-CN" altLang="en-US" sz="2400" b="1">
              <a:solidFill>
                <a:srgbClr val="CF5F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4"/>
            </p:custDataLst>
          </p:nvPr>
        </p:nvGraphicFramePr>
        <p:xfrm>
          <a:off x="680720" y="2942590"/>
          <a:ext cx="1080643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455"/>
                <a:gridCol w="3437255"/>
                <a:gridCol w="1485265"/>
                <a:gridCol w="4402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属性名称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属性名称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热水器编码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热水器出厂编号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发生时间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记录热水器处于某状态的时刻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开关机状态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热水器是否开机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加热中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热水器处于对水进行加热的状态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保温中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热水器处于对水进行保温的状态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有无水流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热水水流量10L/min为有水，否则为无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实际温度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热水器中热水的实际温度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热水量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热水器热水的含量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水流量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热水器热水的水流速度，单位：L/min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节能模式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热水器的一种节能工作模式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加热剩余时间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加热到设定温度还需多长时间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当前设置温度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热水器加热时热水能够达到的最大温度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046703" y="845724"/>
            <a:ext cx="2245488" cy="22454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3886921" y="1013365"/>
            <a:ext cx="2689956" cy="268995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4258148" y="2729569"/>
            <a:ext cx="1947513" cy="194751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7002996" y="1441623"/>
            <a:ext cx="2606873" cy="260687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6576876" y="473053"/>
            <a:ext cx="1644608" cy="16446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372517" y="2863156"/>
            <a:ext cx="1130239" cy="11302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866883" y="4503323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7723471" y="4325230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153761" y="4912257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487154" y="4570167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8765768" y="6074691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9011193" y="1314991"/>
            <a:ext cx="1656813" cy="1656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050406" y="2352147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375587" y="3104117"/>
            <a:ext cx="446864" cy="4468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2136206" y="2457951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1569022" y="2863153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3958568" y="3534632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7347622" y="1076999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9614029" y="3517142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8754995" y="307562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8509575" y="1687036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763797" y="2096797"/>
            <a:ext cx="2664415" cy="26644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16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341229" y="5323959"/>
            <a:ext cx="5509551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预处理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</p:bld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934970" y="266700"/>
            <a:ext cx="3780155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数据变换之连续属性离散化</a:t>
            </a:r>
            <a:endParaRPr lang="zh-CN" altLang="en-US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208405" y="980440"/>
            <a:ext cx="97720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buNone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1．用水停顿时间间隔的分布情况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208405" y="1571625"/>
            <a:ext cx="94970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探索用户用水停顿时间分布，探究划分一次用水事件的时间间隔阈值。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4"/>
            </p:custDataLst>
          </p:nvPr>
        </p:nvGraphicFramePr>
        <p:xfrm>
          <a:off x="1007745" y="2939415"/>
          <a:ext cx="102825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936"/>
                <a:gridCol w="1468936"/>
                <a:gridCol w="1468936"/>
                <a:gridCol w="1468936"/>
                <a:gridCol w="1468936"/>
                <a:gridCol w="1468936"/>
                <a:gridCol w="1468936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间隔时长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0~0.1</a:t>
                      </a:r>
                      <a:endParaRPr lang="en-US" altLang="en-US" sz="24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0.1~0.2</a:t>
                      </a:r>
                      <a:endParaRPr lang="en-US" altLang="en-US" sz="24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0.2~0.3</a:t>
                      </a:r>
                      <a:endParaRPr lang="en-US" altLang="en-US" sz="24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0.3~0.5</a:t>
                      </a:r>
                      <a:endParaRPr lang="en-US" altLang="en-US" sz="24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0.5~1</a:t>
                      </a:r>
                      <a:endParaRPr lang="en-US" altLang="en-US" sz="24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1~2</a:t>
                      </a:r>
                      <a:endParaRPr lang="en-US" altLang="en-US" sz="24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黑体" panose="02010609060101010101" pitchFamily="49" charset="-122"/>
                          <a:sym typeface="+mn-ea"/>
                        </a:rPr>
                        <a:t>停顿频率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黑体" panose="02010609060101010101" pitchFamily="49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78.71%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9.55%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2.52%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1.49%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1.46%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1.29%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黑体" panose="02010609060101010101" pitchFamily="49" charset="-122"/>
                          <a:sym typeface="+mn-ea"/>
                        </a:rPr>
                        <a:t>间隔时长</a:t>
                      </a:r>
                      <a:endParaRPr lang="en-US" altLang="en-US" sz="24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黑体" panose="02010609060101010101" pitchFamily="49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CF5F5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2~3</a:t>
                      </a:r>
                      <a:endParaRPr lang="en-US" altLang="en-US" sz="24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CF5F5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3~4</a:t>
                      </a:r>
                      <a:endParaRPr lang="en-US" altLang="en-US" sz="24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CF5F5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4~5</a:t>
                      </a:r>
                      <a:endParaRPr lang="en-US" altLang="en-US" sz="24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CF5F5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5~6</a:t>
                      </a:r>
                      <a:endParaRPr lang="en-US" altLang="en-US" sz="24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CF5F5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6~7</a:t>
                      </a:r>
                      <a:endParaRPr lang="en-US" altLang="en-US" sz="24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CF5F5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7~8</a:t>
                      </a:r>
                      <a:endParaRPr lang="en-US" altLang="en-US" sz="24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CF5F55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黑体" panose="02010609060101010101" pitchFamily="49" charset="-122"/>
                          <a:sym typeface="+mn-ea"/>
                        </a:rPr>
                        <a:t>停顿频率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黑体" panose="02010609060101010101" pitchFamily="49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0.74%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0.48%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0.26%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0.27%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0.19%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0.17%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间隔时长</a:t>
                      </a:r>
                      <a:endParaRPr lang="en-US" sz="24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CF5F55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8~9</a:t>
                      </a:r>
                      <a:endParaRPr lang="en-US" sz="24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CF5F55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9~10</a:t>
                      </a:r>
                      <a:endParaRPr lang="en-US" sz="24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CF5F55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10~11</a:t>
                      </a:r>
                      <a:endParaRPr lang="en-US" sz="24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CF5F55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11~12</a:t>
                      </a:r>
                      <a:endParaRPr lang="en-US" sz="24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CF5F55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12~13</a:t>
                      </a:r>
                      <a:endParaRPr lang="en-US" sz="24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CF5F55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13以上</a:t>
                      </a:r>
                      <a:endParaRPr lang="en-US" sz="24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CF5F55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黑体" panose="02010609060101010101" pitchFamily="49" charset="-122"/>
                          <a:sym typeface="+mn-ea"/>
                        </a:rPr>
                        <a:t>停顿频率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黑体" panose="02010609060101010101" pitchFamily="49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0.12%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0.09%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0.09%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0.10%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0.11%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2.36%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2632710" y="2385695"/>
            <a:ext cx="7306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用水停顿时间间隔频数分布表       （单位：分钟）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934970" y="266700"/>
            <a:ext cx="3780155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数据变换之连续属性离散化</a:t>
            </a:r>
            <a:endParaRPr lang="zh-CN" altLang="en-US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208405" y="980440"/>
            <a:ext cx="97720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buNone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2．绘制用水停顿时间帕累托图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76" name="图片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52550" y="1833245"/>
            <a:ext cx="5796915" cy="47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7295515" y="5151120"/>
            <a:ext cx="4107180" cy="1087755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rtlCol="0">
            <a:spAutoFit/>
          </a:bodyPr>
          <a:p>
            <a:pPr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CF5F55"/>
                </a:solidFill>
              </a:rPr>
              <a:t>得到的帕累托图如图所示，可知：用水停顿时间约95%都在0.3分钟以内，而6~13分钟的频率很低。</a:t>
            </a:r>
            <a:endParaRPr lang="zh-CN" altLang="en-US" b="1">
              <a:solidFill>
                <a:srgbClr val="CF5F5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934970" y="266700"/>
            <a:ext cx="3780155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数据规约之属性规约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51230" y="1175385"/>
            <a:ext cx="1005078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对数据进行属性规约的目的在于删除冗余属性。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将热水器编号、节能模式、当前设置温度、有无水流等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个冗余属性删除。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75" name="图片 1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217093" y="2745423"/>
            <a:ext cx="3409315" cy="2221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324610" y="3442335"/>
            <a:ext cx="5073015" cy="64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zh-CN" altLang="en-US"/>
              <a:t>初始状态的数据形状为： (18840, 12)</a:t>
            </a:r>
            <a:endParaRPr lang="zh-CN" altLang="en-US"/>
          </a:p>
          <a:p>
            <a:r>
              <a:rPr lang="zh-CN" altLang="en-US"/>
              <a:t>删除冗余属性后的数据形状为： (18840, 8)</a:t>
            </a:r>
            <a:endParaRPr lang="zh-CN" altLang="en-US"/>
          </a:p>
        </p:txBody>
      </p:sp>
      <p:sp>
        <p:nvSpPr>
          <p:cNvPr id="6" name="圆角矩形 5"/>
          <p:cNvSpPr/>
          <p:nvPr>
            <p:custDataLst>
              <p:tags r:id="rId6"/>
            </p:custDataLst>
          </p:nvPr>
        </p:nvSpPr>
        <p:spPr>
          <a:xfrm>
            <a:off x="1061720" y="3332480"/>
            <a:ext cx="5147310" cy="942975"/>
          </a:xfrm>
          <a:prstGeom prst="roundRect">
            <a:avLst/>
          </a:prstGeom>
          <a:noFill/>
          <a:ln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6" grpId="0" bldLvl="0" animBg="1"/>
      <p:bldP spid="6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934970" y="266700"/>
            <a:ext cx="3780155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数据集成之合并数据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04925" y="971550"/>
            <a:ext cx="33286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1．划分单次用水事件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091565" y="1427480"/>
            <a:ext cx="104013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在用水状态记录中水流量不为0，表明热水器用户正在使用热水；而水流量为0时，表明热水器用户用热水时发生了停顿或者用热水结束。划分模型的符号说明如下表所示。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4"/>
            </p:custDataLst>
          </p:nvPr>
        </p:nvGraphicFramePr>
        <p:xfrm>
          <a:off x="179705" y="3641090"/>
          <a:ext cx="673671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775"/>
                <a:gridCol w="5742940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符号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释义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t1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所有水流量不为0的用水行为的发生时间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T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时间间隔阈值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304925" y="3180715"/>
            <a:ext cx="4030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划分模型的符号说明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7082155" y="2888615"/>
            <a:ext cx="4782185" cy="34150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t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如果水流量为0的状态超过阈值T，则从该段水流量为0的状态向前寻找最后一条水流量不为0的用水记录作为上次用水事件的结束；向后寻找水流量不为0的用水记录作为下次用水事件的开始。</a:t>
            </a:r>
            <a:endParaRPr lang="zh-CN" altLang="en-US" sz="24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0" grpId="0"/>
      <p:bldP spid="10" grpId="1"/>
      <p:bldP spid="7" grpId="0" bldLvl="0" animBg="1"/>
      <p:bldP spid="7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934970" y="266700"/>
            <a:ext cx="3780155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数据集成之合并数据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1023620" y="1029970"/>
            <a:ext cx="4549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2．确定单次用水事件时长阈值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4652010" y="5802630"/>
            <a:ext cx="26117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阈值寻优模型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857885" y="1484630"/>
            <a:ext cx="101263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不同时间、地域，用水事件的阈值可能不同；建立阈值寻优模型寻找最优的阈值，可以通过确定单次用水事件时长来寻找。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0" name="图片 9" descr="IMG_25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b="7259"/>
          <a:stretch>
            <a:fillRect/>
          </a:stretch>
        </p:blipFill>
        <p:spPr>
          <a:xfrm>
            <a:off x="2689225" y="2825115"/>
            <a:ext cx="6812915" cy="28365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934970" y="266700"/>
            <a:ext cx="3780155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数据变换之属性构造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240155" y="1619885"/>
            <a:ext cx="4549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1．构建用水时长与频率属性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49325" y="959485"/>
            <a:ext cx="104819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属性构造包括4类指标：时长指标、频率指标、用水量化指标、用水波动指标。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/>
              <p:nvPr>
                <p:custDataLst>
                  <p:tags r:id="rId4"/>
                </p:custDataLst>
              </p:nvPr>
            </p:nvGraphicFramePr>
            <p:xfrm>
              <a:off x="1616710" y="2525395"/>
              <a:ext cx="9154795" cy="39890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95755"/>
                    <a:gridCol w="4841240"/>
                    <a:gridCol w="2717800"/>
                  </a:tblGrid>
                  <a:tr h="38735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属性</a:t>
                          </a:r>
                          <a:endParaRPr lang="zh-CN" altLang="en-US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构建方法</a:t>
                          </a:r>
                          <a:endParaRPr lang="zh-CN" altLang="en-US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说明</a:t>
                          </a:r>
                          <a:endParaRPr lang="zh-CN" altLang="en-US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事件开始时间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+mn-ea"/>
                            </a:rPr>
                            <a:t>事件开始时间=起始数据的时间-发送阈值/2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热水事件开始发生的时间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  <a:sym typeface="+mn-ea"/>
                          </a:endParaRPr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事件结束时间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+mn-ea"/>
                            </a:rPr>
                            <a:t>事件结束时间=结束数据的时间+发送阈值/2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热水事件结束发生的时间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  <a:sym typeface="+mn-ea"/>
                          </a:endParaRPr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洗浴时间点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+mn-ea"/>
                            </a:rPr>
                            <a:t>洗浴时间点=事件开始时间的小时点，如时间为20:00:10，则洗浴时间点为“20”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开始用水的时间点</a:t>
                          </a:r>
                          <a:endParaRPr lang="en-US" altLang="en-US" sz="1800" b="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</a:endParaRPr>
                        </a:p>
                        <a:p>
                          <a:pPr algn="ctr">
                            <a:buNone/>
                          </a:pPr>
                          <a:endParaRPr lang="zh-CN" altLang="en-US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用水时长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  <m:t>用水时间=每条用水数据时长的和=</m:t>
                                </m:r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ea typeface="微软雅黑" panose="020B0503020204020204" pitchFamily="34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ea typeface="MS Mincho" charset="0"/>
                                        <a:cs typeface="Cambria Math" panose="02040503050406030204" charset="0"/>
                                      </a:rPr>
                                      <m:t>下条数据的和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ea typeface="MS Mincho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zh-CN" i="1"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ea typeface="微软雅黑" panose="020B0503020204020204" pitchFamily="34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ea typeface="MS Mincho" charset="0"/>
                                        <a:cs typeface="Cambria Math" panose="02040503050406030204" charset="0"/>
                                      </a:rPr>
                                      <m:t>上条数据的和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ea typeface="MS Mincho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一次用水过程中有热水流出的时长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  <a:sym typeface="+mn-ea"/>
                          </a:endParaRPr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总用水时长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+mn-ea"/>
                            </a:rPr>
                            <a:t>从划分出的用水事件，起始数据的时间到终止数据的时间间隔+发送阈值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记录整个用水阶段的时长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  <a:sym typeface="+mn-ea"/>
                          </a:endParaRPr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+mn-ea"/>
                            </a:rPr>
                            <a:t>用水时长/总用水时长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+mn-ea"/>
                            </a:rPr>
                            <a:t>用水时长/总用水时长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判断用水时长占总用水时长的比重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  <a:sym typeface="+mn-ea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/>
              <p:nvPr>
                <p:custDataLst>
                  <p:tags r:id="rId5"/>
                </p:custDataLst>
              </p:nvPr>
            </p:nvGraphicFramePr>
            <p:xfrm>
              <a:off x="1616710" y="2525395"/>
              <a:ext cx="9154795" cy="39890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95755"/>
                    <a:gridCol w="4841240"/>
                    <a:gridCol w="2717800"/>
                  </a:tblGrid>
                  <a:tr h="38735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属性</a:t>
                          </a:r>
                          <a:endParaRPr lang="zh-CN" altLang="en-US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构建方法</a:t>
                          </a:r>
                          <a:endParaRPr lang="zh-CN" altLang="en-US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说明</a:t>
                          </a:r>
                          <a:endParaRPr lang="zh-CN" altLang="en-US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事件开始时间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+mn-ea"/>
                            </a:rPr>
                            <a:t>事件开始时间=起始数据的时间-发送阈值/2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热水事件开始发生的时间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  <a:sym typeface="+mn-ea"/>
                          </a:endParaRPr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事件结束时间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+mn-ea"/>
                            </a:rPr>
                            <a:t>事件结束时间=结束数据的时间+发送阈值/2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热水事件结束发生的时间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  <a:sym typeface="+mn-ea"/>
                          </a:endParaRPr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洗浴时间点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+mn-ea"/>
                            </a:rPr>
                            <a:t>洗浴时间点=事件开始时间的小时点，如时间为20:00:10，则洗浴时间点为“20”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开始用水的时间点</a:t>
                          </a:r>
                          <a:endParaRPr lang="en-US" altLang="en-US" sz="1800" b="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</a:endParaRPr>
                        </a:p>
                        <a:p>
                          <a:pPr algn="ctr">
                            <a:buNone/>
                          </a:pPr>
                          <a:endParaRPr lang="zh-CN" altLang="en-US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</a:tr>
                  <a:tr h="91948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用水时长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一次用水过程中有热水流出的时长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  <a:sym typeface="+mn-ea"/>
                          </a:endParaRPr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总用水时长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+mn-ea"/>
                            </a:rPr>
                            <a:t>从划分出的用水事件，起始数据的时间到终止数据的时间间隔+发送阈值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记录整个用水阶段的时长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  <a:sym typeface="+mn-ea"/>
                          </a:endParaRPr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+mn-ea"/>
                            </a:rPr>
                            <a:t>用水时长/总用水时长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+mn-ea"/>
                            </a:rPr>
                            <a:t>用水时长/总用水时长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楷体" panose="02010609060101010101" charset="-122"/>
                              <a:sym typeface="+mn-ea"/>
                            </a:rPr>
                            <a:t>判断用水时长占总用水时长的比重</a:t>
                          </a:r>
                          <a:endParaRPr lang="en-US" altLang="en-US" sz="1800">
                            <a:solidFill>
                              <a:srgbClr val="00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楷体" panose="02010609060101010101" charset="-122"/>
                            <a:sym typeface="+mn-ea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2799715" y="208026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数据的属性和构建方法表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934970" y="266700"/>
            <a:ext cx="3780155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数据变换之属性构造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240155" y="1288415"/>
            <a:ext cx="4549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1．构建用水时长与频率属性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3"/>
            </p:custDataLst>
          </p:nvPr>
        </p:nvGraphicFramePr>
        <p:xfrm>
          <a:off x="856615" y="2370455"/>
          <a:ext cx="10870565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7510"/>
                <a:gridCol w="5090160"/>
                <a:gridCol w="41128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属性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构建方法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说明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停顿时长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一次完整用水事件中，对水流量为0的数据做计算，停顿时长=每条用水停顿数据时长的和=和下条数据的间隔时间/2+和上条数据的间隔时间/2 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标记一次完整用水事件中的每次用水停顿的时长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总停顿时长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一次完整用水事件中的所有停顿时长之和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标记一次完整用水事件中的总停顿时长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平均停顿时长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一次完整用水事件中的所有停顿时长的平均值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标记一次完整用水事件中的停顿的平均时长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停顿次数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一次完整用水事件的中断用水的次数之和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帮助识别洗浴及连续洗浴事件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3212465" y="2002155"/>
            <a:ext cx="5767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构建用水事件属性表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934970" y="266700"/>
            <a:ext cx="3780155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数据变换之属性构造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661670" y="1010920"/>
            <a:ext cx="4549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2．构建用水量与波动属性</a:t>
            </a:r>
            <a:endParaRPr lang="zh-CN" altLang="en-US" sz="2400" b="1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799330" y="1649095"/>
            <a:ext cx="3340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/>
              <a:t>指标属性与构建方法</a:t>
            </a:r>
            <a:endParaRPr lang="zh-CN" altLang="en-US" sz="2000"/>
          </a:p>
        </p:txBody>
      </p:sp>
      <p:graphicFrame>
        <p:nvGraphicFramePr>
          <p:cNvPr id="6" name="表格 5"/>
          <p:cNvGraphicFramePr/>
          <p:nvPr>
            <p:custDataLst>
              <p:tags r:id="rId4"/>
            </p:custDataLst>
          </p:nvPr>
        </p:nvGraphicFramePr>
        <p:xfrm>
          <a:off x="742950" y="2047875"/>
          <a:ext cx="10761980" cy="168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435"/>
                <a:gridCol w="3832860"/>
                <a:gridCol w="5099685"/>
              </a:tblGrid>
              <a:tr h="4044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指 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构建方法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说明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总用水量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总用水量</a:t>
                      </a:r>
                      <a:r>
                        <a:rPr lang="en-US" altLang="zh-CN" sz="1800">
                          <a:sym typeface="+mn-ea"/>
                        </a:rPr>
                        <a:t>=</a:t>
                      </a:r>
                      <a:r>
                        <a:rPr lang="zh-CN" altLang="en-US" sz="1800">
                          <a:sym typeface="+mn-ea"/>
                        </a:rPr>
                        <a:t>每条有水流数据的用水量</a:t>
                      </a:r>
                      <a:r>
                        <a:rPr lang="en-US" altLang="zh-CN" sz="1800">
                          <a:sym typeface="+mn-ea"/>
                        </a:rPr>
                        <a:t>=</a:t>
                      </a:r>
                      <a:r>
                        <a:rPr lang="zh-CN" altLang="en-US" sz="1800">
                          <a:sym typeface="+mn-ea"/>
                        </a:rPr>
                        <a:t>持续时间×水流大小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一次用水过程中使用的总的水量，单位为L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平均水流量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平均水流量=总用水量/有水流时间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一次用水过程中，开花洒时平均水流量大小（为热水），单位为L/min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69" name="图片 2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382260" y="4026853"/>
            <a:ext cx="5544000" cy="589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图片 100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465445" y="4911090"/>
            <a:ext cx="5461000" cy="10293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840105" y="4122420"/>
            <a:ext cx="41763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ym typeface="+mn-ea"/>
              </a:rPr>
              <a:t>构建水流量波动的特征，公式如右：</a:t>
            </a:r>
            <a:endParaRPr lang="zh-CN" altLang="en-US" sz="2000"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10"/>
            </p:custDataLst>
          </p:nvPr>
        </p:nvSpPr>
        <p:spPr>
          <a:xfrm>
            <a:off x="661670" y="5226050"/>
            <a:ext cx="43548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ym typeface="+mn-ea"/>
              </a:rPr>
              <a:t>构建</a:t>
            </a:r>
            <a:r>
              <a:rPr lang="zh-CN" altLang="en-US" sz="2000">
                <a:sym typeface="+mn-ea"/>
              </a:rPr>
              <a:t>停顿时长波动的</a:t>
            </a:r>
            <a:r>
              <a:rPr lang="zh-CN" altLang="en-US" sz="2000">
                <a:sym typeface="+mn-ea"/>
              </a:rPr>
              <a:t>特征</a:t>
            </a:r>
            <a:r>
              <a:rPr lang="zh-CN" altLang="en-US" sz="2000">
                <a:sym typeface="+mn-ea"/>
              </a:rPr>
              <a:t>，公式如右：</a:t>
            </a:r>
            <a:endParaRPr lang="zh-CN" altLang="en-US" sz="20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934970" y="266700"/>
            <a:ext cx="411734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数据清洗之筛选候选洗浴事件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537335" y="3147695"/>
            <a:ext cx="6743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满足下列任一条件就不是用水事件，具体如下。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537335" y="3662680"/>
            <a:ext cx="89401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(1)一次用水事件的总用水量（指纯热水）小于5升。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(2)用水时长小于100秒（指用水时间不包括用水停顿）。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(3)总用水时长小于120秒（指事件开始到结束）。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1035685" y="988695"/>
            <a:ext cx="105524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洗浴事件的识别是建立在单次用水事件识别的基础上，剔除短暂用水事件，可以使用3个比较宽松的条件筛选掉确定不可能为洗浴事件的数据，剩余的事件称为“候选洗浴事件”。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3" grpId="0"/>
      <p:bldP spid="3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046703" y="845724"/>
            <a:ext cx="2245488" cy="22454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3886921" y="1013365"/>
            <a:ext cx="2689956" cy="268995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4258148" y="2729569"/>
            <a:ext cx="1947513" cy="194751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7002996" y="1441623"/>
            <a:ext cx="2606873" cy="260687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6576876" y="473053"/>
            <a:ext cx="1644608" cy="16446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372517" y="2863156"/>
            <a:ext cx="1130239" cy="11302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866883" y="4503323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7723471" y="4325230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153761" y="4912257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487154" y="4570167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8765768" y="6074691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9011193" y="1314991"/>
            <a:ext cx="1656813" cy="1656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050406" y="2352147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375587" y="3104117"/>
            <a:ext cx="446864" cy="4468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2136206" y="2457951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1569022" y="2863153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3958568" y="3534632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7347622" y="1076999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9614029" y="3517142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8754995" y="307562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8509575" y="1687036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763797" y="2096797"/>
            <a:ext cx="2664415" cy="26644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16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341229" y="5323959"/>
            <a:ext cx="5509551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构建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</p:bldLst>
      </p:timing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952500" y="3227705"/>
            <a:ext cx="6265545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2．BP原理</a:t>
            </a:r>
            <a:endParaRPr sz="2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BP网络是在输入层与输出层之间增加若干层神经元，这些神经元称为隐藏单元，他们与外界没有直接的联系，但其状态的改变，能影响输入与输出之间的关系，每一层可以有若干个节点。</a:t>
            </a:r>
            <a:endParaRPr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52500" y="883920"/>
            <a:ext cx="105543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1．提出背景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BP神经网络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是1986年由Rumelhart和McClelland为首的科学家提出的概念，是一种按照误差逆向传播算法训练的多层前馈神经网络，是应用最广泛的神经网络模型之一。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27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8045" y="3144520"/>
            <a:ext cx="4320000" cy="2429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itle 1"/>
          <p:cNvSpPr txBox="1"/>
          <p:nvPr>
            <p:custDataLst>
              <p:tags r:id="rId2"/>
            </p:custDataLst>
          </p:nvPr>
        </p:nvSpPr>
        <p:spPr>
          <a:xfrm>
            <a:off x="2934970" y="266700"/>
            <a:ext cx="411734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什么是BP神经网络模型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9" grpId="0"/>
      <p:bldP spid="9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290955" y="4244975"/>
            <a:ext cx="10215880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向传播过程，输入模式从输入层经隐藏单元层逐层处理，并转向输出层，每一层神经元的状态只影响下一层神经元的状态。若在输出层不能得到期望的输出，则转入反向传播，将误差信号沿原来的连接通路返回，通过修改各神经元的权值，使得误差信号最小。w表示权重，b表示偏差。</a:t>
            </a:r>
            <a:endParaRPr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2540" y="942340"/>
            <a:ext cx="105543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．BP算法过程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BP神经网络的计算过程由正向计算过程和反向计算过程组成。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17" name="图片 24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9410" y="2294255"/>
            <a:ext cx="6393180" cy="1798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" name="Title 1"/>
          <p:cNvSpPr txBox="1"/>
          <p:nvPr>
            <p:custDataLst>
              <p:tags r:id="rId2"/>
            </p:custDataLst>
          </p:nvPr>
        </p:nvSpPr>
        <p:spPr>
          <a:xfrm>
            <a:off x="2934970" y="266700"/>
            <a:ext cx="411734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什么是BP神经网络模型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195070" y="1584960"/>
            <a:ext cx="9777730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P神经网络以其独特的结构与处理信息的方法，在许多实际应用领域中取得显著的成效，如图像处理、信号处理、模式识别、机器人控制、卫生保健、医疗、焊接领域、经济等领域，此外，在电力系统、交通、军事、矿业、农业与气象等方面也有应用。</a:t>
            </a:r>
            <a:endParaRPr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95070" y="929640"/>
            <a:ext cx="10554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400" b="1">
                <a:sym typeface="+mn-ea"/>
              </a:rPr>
              <a:t>4</a:t>
            </a:r>
            <a:r>
              <a:rPr sz="2400" b="1">
                <a:sym typeface="+mn-ea"/>
              </a:rPr>
              <a:t>．</a:t>
            </a:r>
            <a:r>
              <a:rPr lang="zh-CN" altLang="en-US" sz="2400" b="1"/>
              <a:t>主要应用领域</a:t>
            </a:r>
            <a:endParaRPr lang="zh-CN" altLang="en-US" sz="2400" b="1"/>
          </a:p>
        </p:txBody>
      </p:sp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934970" y="266700"/>
            <a:ext cx="411734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什么是BP神经网络模型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952500" y="1885315"/>
            <a:ext cx="1021588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于多层神经网络，scikit-learn提供了MLPClassifier类。MLP分类器是一个神经网络。本质上，它需要经过多次迭代（epochs）的训练，才能使用反向传播在隐藏层上学习适当的权重，从而做到正确分类，使用语法结构如下。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9190" y="1229995"/>
            <a:ext cx="10554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5．多层神经网络</a:t>
            </a:r>
            <a:endParaRPr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1016000" y="4497070"/>
            <a:ext cx="9896475" cy="64516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>
            <a:spAutoFit/>
          </a:bodyPr>
          <a:p>
            <a:pPr indent="0" algn="ctr" fontAlgn="auto"/>
            <a:r>
              <a:rPr lang="en-US" b="0">
                <a:latin typeface="Courier New" panose="02070309020205020404" charset="0"/>
                <a:ea typeface="宋体" panose="02010600030101010101" pitchFamily="2" charset="-122"/>
              </a:rPr>
              <a:t>MLPClassifier(hidden_layer_sizes=(100,), activation=’relu’, solver=’ adam', alpha=0.0001, max_iter=200, tol=0.0001, verbose=False...)</a:t>
            </a:r>
            <a:endParaRPr lang="en-US" altLang="en-US" b="0"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139190" y="4361180"/>
            <a:ext cx="9773285" cy="985520"/>
          </a:xfrm>
          <a:prstGeom prst="roundRect">
            <a:avLst/>
          </a:prstGeom>
          <a:noFill/>
          <a:ln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2934970" y="266700"/>
            <a:ext cx="411734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什么是BP神经网络模型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2" grpId="0"/>
      <p:bldP spid="4" grpId="0" bldLvl="0" animBg="1"/>
      <p:bldP spid="102" grpId="1"/>
      <p:bldP spid="4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138555" y="1456690"/>
            <a:ext cx="1002982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sklearn中的模型构建训练完成后，不同的模型能够根据训练的数据输出不同的属性，MLPClassifier神经网络模型的主要属性见表。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9190" y="903605"/>
            <a:ext cx="10554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5．多层神经网络</a:t>
            </a:r>
            <a:endParaRPr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2897505" y="2886075"/>
          <a:ext cx="712406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1195"/>
                <a:gridCol w="5182870"/>
              </a:tblGrid>
              <a:tr h="4165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属性名称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属性含义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classes_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返回array。表示每个输出地类别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loss_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返回float。表示当前损失函数值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coefs_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返回array。表示权值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intercepts_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返回array。表示阈值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" panose="02010609060101010101" charset="-122"/>
                          <a:sym typeface="+mn-ea"/>
                        </a:rPr>
                        <a:t>n_iter_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返回int。表示实际迭代次数</a:t>
                      </a:r>
                      <a:endParaRPr lang="en-US" altLang="en-US" sz="2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1" name="Title 1"/>
          <p:cNvSpPr txBox="1"/>
          <p:nvPr>
            <p:custDataLst>
              <p:tags r:id="rId2"/>
            </p:custDataLst>
          </p:nvPr>
        </p:nvSpPr>
        <p:spPr>
          <a:xfrm>
            <a:off x="2934970" y="266700"/>
            <a:ext cx="4117340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什么是BP神经网络模型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444750" y="213995"/>
            <a:ext cx="73018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构建洗浴识别模型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67" name="图片 101"/>
          <p:cNvPicPr/>
          <p:nvPr/>
        </p:nvPicPr>
        <p:blipFill>
          <a:blip r:embed="rId1"/>
          <a:srcRect b="12758"/>
          <a:stretch>
            <a:fillRect/>
          </a:stretch>
        </p:blipFill>
        <p:spPr>
          <a:xfrm>
            <a:off x="7630795" y="2540000"/>
            <a:ext cx="4320000" cy="2520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" name="文本框 101"/>
          <p:cNvSpPr txBox="1"/>
          <p:nvPr/>
        </p:nvSpPr>
        <p:spPr>
          <a:xfrm>
            <a:off x="288290" y="1243330"/>
            <a:ext cx="7276465" cy="50774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BP</a:t>
            </a:r>
            <a:r>
              <a:rPr 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神经网络模型训练过程如下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　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根据样本，得到训练好的神经网络后，就可以用来识别对应的用户的洗浴事件，其中待检测样本的</a:t>
            </a:r>
            <a:r>
              <a:rPr 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个特征作为输入，输出层输出一个值在</a:t>
            </a:r>
            <a:r>
              <a:rPr 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[-1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1]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范围内，若该值小于</a:t>
            </a:r>
            <a:r>
              <a:rPr 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，则该事件不是洗浴事件，若该值大于</a:t>
            </a:r>
            <a:r>
              <a:rPr 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，则该事件是洗浴事件。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②　某热水器用户记录了两周的热水器用水日志，将前一周的数据作为训练数据，后一周的数据作为测试数据，代入上述模型进行测试。</a:t>
            </a:r>
            <a:endParaRPr lang="zh-CN" altLang="en-US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02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046703" y="845724"/>
            <a:ext cx="2245488" cy="22454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3886921" y="1013365"/>
            <a:ext cx="2689956" cy="268995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4258148" y="2729569"/>
            <a:ext cx="1947513" cy="194751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7002996" y="1441623"/>
            <a:ext cx="2606873" cy="260687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6576876" y="473053"/>
            <a:ext cx="1644608" cy="16446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372517" y="2863156"/>
            <a:ext cx="1130239" cy="11302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866883" y="4503323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7723471" y="4325230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153761" y="4912257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487154" y="4570167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8765768" y="6074691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9011193" y="1314991"/>
            <a:ext cx="1656813" cy="1656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050406" y="2352147"/>
            <a:ext cx="817868" cy="8178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375587" y="3104117"/>
            <a:ext cx="446864" cy="4468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2136206" y="2457951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1569022" y="2863153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3958568" y="3534632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7347622" y="1076999"/>
            <a:ext cx="245420" cy="2454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9614029" y="3517142"/>
            <a:ext cx="245420" cy="24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8754995" y="307562"/>
            <a:ext cx="245420" cy="2454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8509575" y="1687036"/>
            <a:ext cx="490840" cy="490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763797" y="2096797"/>
            <a:ext cx="2664415" cy="26644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16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341229" y="5323959"/>
            <a:ext cx="5509551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评估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</p:bldLst>
      </p:timing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564130" y="194945"/>
            <a:ext cx="73018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评价指标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0285" y="1150620"/>
            <a:ext cx="10043160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精准度(precision)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，指被分类器判定正例中的正样本的比重；</a:t>
            </a:r>
            <a:endParaRPr 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召回率(recall)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，指的是被预测为正例的占总的正例的比重。</a:t>
            </a:r>
            <a:endParaRPr 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准确率(accuracy)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：指分类器对整个样本判断正确的比重。</a:t>
            </a:r>
            <a:endParaRPr 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F1分数（F1-score）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是分类问题的一个衡量指标，是精确率和召回率的调和平均数，最大为1，最小为0。一般情况下，当F1较高时则能说明试验方法比较有效。</a:t>
            </a:r>
            <a:endParaRPr 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39190" y="1005205"/>
            <a:ext cx="10633710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TPR为真阳率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，是检测出来的真阳性样本数除以所有真实阳性样本数；</a:t>
            </a:r>
            <a:r>
              <a:rPr 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FPR为假阳率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，是检测出来的假阳性样本数除以所有真实阴性样本数。</a:t>
            </a:r>
            <a:endParaRPr 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ROC（Receiver Operating Characteristic）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把假阳率当x轴，真阳率当y轴画一个二维平面直角坐标系，然后不断调整检测方法（或机器学习中的分类器）的阈值，即最终得分高于某个值就是阳性，反之就是阴性，得到不同的真阳率和假阳率数值，然后描点，就可以得到一条ROC曲线。 </a:t>
            </a:r>
            <a:endParaRPr 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39190" y="4691380"/>
            <a:ext cx="101720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需要注意的是，ROC曲线必定起于（0，0），止于（1，1）。因为，当全都判断为阴性(-)时，就是（0，0）；全部判断为阳性(+)时就是（1，1）。这两点间斜率为1的线段表示随机分类器（对真实的正负样本没有区分能力）。所以一般分类器需要在这条线上方。</a:t>
            </a:r>
            <a:endParaRPr lang="zh-CN" sz="20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2564130" y="194945"/>
            <a:ext cx="73018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绘制ROC曲线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2962275" y="284480"/>
            <a:ext cx="2707005" cy="506095"/>
          </a:xfrm>
          <a:prstGeom prst="rect">
            <a:avLst/>
          </a:prstGeom>
        </p:spPr>
        <p:txBody>
          <a:bodyPr lIns="0" tIns="60946" rIns="0" bIns="6094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  <a:buNone/>
            </a:pPr>
            <a:r>
              <a:rPr lang="zh-CN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zh-CN" altLang="zh-CN" sz="2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886855" y="1741359"/>
            <a:ext cx="8435685" cy="3856276"/>
            <a:chOff x="2499466" y="1735801"/>
            <a:chExt cx="8437247" cy="3856990"/>
          </a:xfrm>
        </p:grpSpPr>
        <p:sp>
          <p:nvSpPr>
            <p:cNvPr id="5" name="矩形: 圆角 1"/>
            <p:cNvSpPr/>
            <p:nvPr/>
          </p:nvSpPr>
          <p:spPr>
            <a:xfrm>
              <a:off x="2802363" y="1879311"/>
              <a:ext cx="8134350" cy="3713480"/>
            </a:xfrm>
            <a:prstGeom prst="roundRect">
              <a:avLst>
                <a:gd name="adj" fmla="val 5720"/>
              </a:avLst>
            </a:prstGeom>
            <a:solidFill>
              <a:srgbClr val="CF5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" name="矩形: 圆角 3"/>
            <p:cNvSpPr/>
            <p:nvPr/>
          </p:nvSpPr>
          <p:spPr>
            <a:xfrm>
              <a:off x="2865229" y="1942176"/>
              <a:ext cx="8007985" cy="3587750"/>
            </a:xfrm>
            <a:prstGeom prst="roundRect">
              <a:avLst>
                <a:gd name="adj" fmla="val 572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2499466" y="1735801"/>
              <a:ext cx="744278" cy="744278"/>
            </a:xfrm>
            <a:prstGeom prst="ellipse">
              <a:avLst/>
            </a:prstGeom>
            <a:solidFill>
              <a:srgbClr val="CF5F55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8" name="椭圆 7"/>
          <p:cNvSpPr/>
          <p:nvPr/>
        </p:nvSpPr>
        <p:spPr>
          <a:xfrm>
            <a:off x="2090524" y="1947717"/>
            <a:ext cx="334268" cy="332696"/>
          </a:xfrm>
          <a:custGeom>
            <a:avLst/>
            <a:gdLst>
              <a:gd name="connsiteX0" fmla="*/ 285751 w 338138"/>
              <a:gd name="connsiteY0" fmla="*/ 30163 h 336550"/>
              <a:gd name="connsiteX1" fmla="*/ 81762 w 338138"/>
              <a:gd name="connsiteY1" fmla="*/ 231806 h 336550"/>
              <a:gd name="connsiteX2" fmla="*/ 285751 w 338138"/>
              <a:gd name="connsiteY2" fmla="*/ 30163 h 336550"/>
              <a:gd name="connsiteX3" fmla="*/ 338138 w 338138"/>
              <a:gd name="connsiteY3" fmla="*/ 0 h 336550"/>
              <a:gd name="connsiteX4" fmla="*/ 289267 w 338138"/>
              <a:gd name="connsiteY4" fmla="*/ 131465 h 336550"/>
              <a:gd name="connsiteX5" fmla="*/ 276058 w 338138"/>
              <a:gd name="connsiteY5" fmla="*/ 144611 h 336550"/>
              <a:gd name="connsiteX6" fmla="*/ 190203 w 338138"/>
              <a:gd name="connsiteY6" fmla="*/ 166960 h 336550"/>
              <a:gd name="connsiteX7" fmla="*/ 245679 w 338138"/>
              <a:gd name="connsiteY7" fmla="*/ 170904 h 336550"/>
              <a:gd name="connsiteX8" fmla="*/ 73967 w 338138"/>
              <a:gd name="connsiteY8" fmla="*/ 262930 h 336550"/>
              <a:gd name="connsiteX9" fmla="*/ 31700 w 338138"/>
              <a:gd name="connsiteY9" fmla="*/ 336550 h 336550"/>
              <a:gd name="connsiteX10" fmla="*/ 0 w 338138"/>
              <a:gd name="connsiteY10" fmla="*/ 336550 h 336550"/>
              <a:gd name="connsiteX11" fmla="*/ 52834 w 338138"/>
              <a:gd name="connsiteY11" fmla="*/ 252413 h 336550"/>
              <a:gd name="connsiteX12" fmla="*/ 147936 w 338138"/>
              <a:gd name="connsiteY12" fmla="*/ 49957 h 336550"/>
              <a:gd name="connsiteX13" fmla="*/ 338138 w 338138"/>
              <a:gd name="connsiteY13" fmla="*/ 0 h 33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38138" h="336550">
                <a:moveTo>
                  <a:pt x="285751" y="30163"/>
                </a:moveTo>
                <a:cubicBezTo>
                  <a:pt x="163888" y="84198"/>
                  <a:pt x="101631" y="204129"/>
                  <a:pt x="81762" y="231806"/>
                </a:cubicBezTo>
                <a:cubicBezTo>
                  <a:pt x="113553" y="190950"/>
                  <a:pt x="271181" y="45978"/>
                  <a:pt x="285751" y="30163"/>
                </a:cubicBezTo>
                <a:close/>
                <a:moveTo>
                  <a:pt x="338138" y="0"/>
                </a:moveTo>
                <a:cubicBezTo>
                  <a:pt x="332855" y="31552"/>
                  <a:pt x="338138" y="82823"/>
                  <a:pt x="289267" y="131465"/>
                </a:cubicBezTo>
                <a:cubicBezTo>
                  <a:pt x="285304" y="135409"/>
                  <a:pt x="281342" y="139353"/>
                  <a:pt x="276058" y="144611"/>
                </a:cubicBezTo>
                <a:cubicBezTo>
                  <a:pt x="232470" y="134094"/>
                  <a:pt x="215299" y="141982"/>
                  <a:pt x="190203" y="166960"/>
                </a:cubicBezTo>
                <a:cubicBezTo>
                  <a:pt x="202091" y="161702"/>
                  <a:pt x="236433" y="165646"/>
                  <a:pt x="245679" y="170904"/>
                </a:cubicBezTo>
                <a:cubicBezTo>
                  <a:pt x="192845" y="214288"/>
                  <a:pt x="110952" y="253727"/>
                  <a:pt x="73967" y="262930"/>
                </a:cubicBezTo>
                <a:cubicBezTo>
                  <a:pt x="73967" y="262930"/>
                  <a:pt x="73967" y="262930"/>
                  <a:pt x="31700" y="336550"/>
                </a:cubicBezTo>
                <a:cubicBezTo>
                  <a:pt x="31700" y="336550"/>
                  <a:pt x="31700" y="336550"/>
                  <a:pt x="0" y="336550"/>
                </a:cubicBezTo>
                <a:cubicBezTo>
                  <a:pt x="0" y="336550"/>
                  <a:pt x="0" y="336550"/>
                  <a:pt x="52834" y="252413"/>
                </a:cubicBezTo>
                <a:cubicBezTo>
                  <a:pt x="63401" y="206400"/>
                  <a:pt x="104348" y="92026"/>
                  <a:pt x="147936" y="49957"/>
                </a:cubicBezTo>
                <a:cubicBezTo>
                  <a:pt x="196807" y="1315"/>
                  <a:pt x="306438" y="5258"/>
                  <a:pt x="33813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23" tIns="45711" rIns="91423" bIns="45711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443014" y="2485488"/>
            <a:ext cx="7625574" cy="23069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50000"/>
              </a:lnSpc>
            </a:pP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（1）了解项目的设计流程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（2）掌握探索数据集特征的方法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（3）掌握数据预处理的常见方法：数据清洗、数据集成、数据变换等方法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 flipH="1">
            <a:off x="5874559" y="-685186"/>
            <a:ext cx="6781080" cy="8387873"/>
            <a:chOff x="-1344978" y="-685187"/>
            <a:chExt cx="6781080" cy="8387873"/>
          </a:xfrm>
        </p:grpSpPr>
        <p:sp>
          <p:nvSpPr>
            <p:cNvPr id="2" name="椭圆 1"/>
            <p:cNvSpPr/>
            <p:nvPr/>
          </p:nvSpPr>
          <p:spPr>
            <a:xfrm>
              <a:off x="-185195" y="-312516"/>
              <a:ext cx="2245488" cy="224548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椭圆 2"/>
            <p:cNvSpPr/>
            <p:nvPr/>
          </p:nvSpPr>
          <p:spPr>
            <a:xfrm>
              <a:off x="-1344978" y="-144876"/>
              <a:ext cx="2689956" cy="26899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494840" y="1571529"/>
              <a:ext cx="1318720" cy="13187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-844556" y="2481611"/>
              <a:ext cx="1947513" cy="19475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1771092" y="283376"/>
              <a:ext cx="2606873" cy="260687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1344978" y="-685187"/>
              <a:ext cx="1644608" cy="164460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-574093" y="4228496"/>
              <a:ext cx="1130238" cy="113023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-574093" y="4429124"/>
              <a:ext cx="2798256" cy="27982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-185195" y="5404454"/>
              <a:ext cx="1351188" cy="135118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1666017" y="5533920"/>
              <a:ext cx="1894088" cy="189408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3517229" y="5808598"/>
              <a:ext cx="1894088" cy="189408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2625707" y="3733966"/>
              <a:ext cx="817868" cy="81786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2371916" y="4306414"/>
              <a:ext cx="245420" cy="24542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921862" y="3754016"/>
              <a:ext cx="245420" cy="2454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3779290" y="3536976"/>
              <a:ext cx="245420" cy="2454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3533870" y="4916451"/>
              <a:ext cx="490840" cy="4908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3779289" y="156746"/>
              <a:ext cx="1656813" cy="165681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矩形 19"/>
          <p:cNvSpPr/>
          <p:nvPr/>
        </p:nvSpPr>
        <p:spPr>
          <a:xfrm>
            <a:off x="1742802" y="2512764"/>
            <a:ext cx="3456299" cy="1107996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r>
              <a:rPr lang="en-US" altLang="zh-CN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THANK</a:t>
            </a:r>
            <a:endParaRPr lang="en-US" altLang="zh-CN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742800" y="3588903"/>
            <a:ext cx="2060308" cy="1107996"/>
          </a:xfrm>
          <a:prstGeom prst="rect">
            <a:avLst/>
          </a:prstGeom>
          <a:solidFill>
            <a:schemeClr val="accent5"/>
          </a:solidFill>
        </p:spPr>
        <p:txBody>
          <a:bodyPr wrap="none">
            <a:spAutoFit/>
          </a:bodyPr>
          <a:lstStyle/>
          <a:p>
            <a:r>
              <a:rPr lang="en-US" altLang="zh-CN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YOU</a:t>
            </a:r>
            <a:endParaRPr lang="zh-CN" altLang="en-US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UNIT_PLACING_PICTURE_USER_VIEWPORT" val="{&quot;height&quot;:10800,&quot;width&quot;:19200}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UNIT_PLACING_PICTURE_USER_VIEWPORT" val="{&quot;height&quot;:4342,&quot;width&quot;:6803}"/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UNIT_TABLE_BEAUTIFY" val="smartTable{52caa1ca-368d-4dcb-abe2-5d387e728e31}"/>
  <p:tag name="TABLE_ENDDRAG_ORIGIN_RECT" val="850*271"/>
  <p:tag name="TABLE_ENDDRAG_RECT" val="53*291*850*271"/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UNIT_TABLE_BEAUTIFY" val="smartTable{407452ad-b45a-4411-bb86-ad85da69d430}"/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UNIT_TABLE_BEAUTIFY" val="smartTable{57ace8e7-e5c2-476f-80ea-793e9a7501d6}"/>
  <p:tag name="TABLE_ENDDRAG_ORIGIN_RECT" val="530*108"/>
  <p:tag name="TABLE_ENDDRAG_RECT" val="-25*302*530*108"/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UNIT_TABLE_BEAUTIFY" val="smartTable{a381cd7c-af95-49c0-8c23-206a7635a13e}"/>
  <p:tag name="TABLE_ENDDRAG_ORIGIN_RECT" val="833*249"/>
  <p:tag name="TABLE_ENDDRAG_RECT" val="73*228*834*249"/>
  <p:tag name="KSO_WM_BEAUTIFY_FLAG" val=""/>
</p:tagLst>
</file>

<file path=ppt/tags/tag54.xml><?xml version="1.0" encoding="utf-8"?>
<p:tagLst xmlns:p="http://schemas.openxmlformats.org/presentationml/2006/main">
  <p:tag name="KSO_WM_UNIT_TABLE_BEAUTIFY" val="smartTable{a381cd7c-af95-49c0-8c23-206a7635a13e}"/>
  <p:tag name="TABLE_ENDDRAG_ORIGIN_RECT" val="833*249"/>
  <p:tag name="TABLE_ENDDRAG_RECT" val="73*228*834*249"/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UNIT_TABLE_BEAUTIFY" val="smartTable{14abd566-d997-4633-9a58-cec691d62d8b}"/>
  <p:tag name="TABLE_ENDDRAG_ORIGIN_RECT" val="819*318"/>
  <p:tag name="TABLE_ENDDRAG_RECT" val="130*180*819*318"/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UNIT_TABLE_BEAUTIFY" val="smartTable{ea9b4a8e-7244-4fcd-be0f-262c4b544553}"/>
  <p:tag name="KSO_WM_BEAUTIFY_FLAG" val=""/>
  <p:tag name="TABLE_ENDDRAG_ORIGIN_RECT" val="847*152"/>
  <p:tag name="TABLE_ENDDRAG_RECT" val="58*255*847*152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UNIT_TABLE_BEAUTIFY" val="smartTable{66087606-acc2-46a8-9acf-1a3ae7bcb1b9}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COMMONDATA" val="eyJoZGlkIjoiNDgyNTJjOTA4YmFjYjEyNWE3NjZlY2U5ZjA2ZWYxYzIifQ=="/>
  <p:tag name="commondata" val="eyJoZGlkIjoiZTE1ZDA5ZjI4N2M1YzQ4MTk4YjhhZDg2YTQ0Yjg4YzUifQ=="/>
</p:tagLst>
</file>

<file path=ppt/theme/theme1.xml><?xml version="1.0" encoding="utf-8"?>
<a:theme xmlns:a="http://schemas.openxmlformats.org/drawingml/2006/main" name="第一PPT，www.1ppt.com">
  <a:themeElements>
    <a:clrScheme name="MOMODA1">
      <a:dk1>
        <a:sysClr val="windowText" lastClr="000000"/>
      </a:dk1>
      <a:lt1>
        <a:sysClr val="window" lastClr="FFFFFF"/>
      </a:lt1>
      <a:dk2>
        <a:srgbClr val="A5A5A5"/>
      </a:dk2>
      <a:lt2>
        <a:srgbClr val="DCD8DC"/>
      </a:lt2>
      <a:accent1>
        <a:srgbClr val="CF5F55"/>
      </a:accent1>
      <a:accent2>
        <a:srgbClr val="F2C06B"/>
      </a:accent2>
      <a:accent3>
        <a:srgbClr val="5F9387"/>
      </a:accent3>
      <a:accent4>
        <a:srgbClr val="97A6AB"/>
      </a:accent4>
      <a:accent5>
        <a:srgbClr val="837664"/>
      </a:accent5>
      <a:accent6>
        <a:srgbClr val="3F3F3F"/>
      </a:accent6>
      <a:hlink>
        <a:srgbClr val="FFFFFF"/>
      </a:hlink>
      <a:folHlink>
        <a:srgbClr val="8C8C8C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F35B0BEE-F18A-47BB-8FCB-E00DA2F2635D-1">
      <extobjdata type="F35B0BEE-F18A-47BB-8FCB-E00DA2F2635D" data="ewoJIkRlc2lnbklkIiA6ICJmYTc1N2ZiNy01YTVlLTRlOWEtODdmYi1jYjgwNjgxNDRiNzgiCn0K"/>
    </extobj>
  </extobjs>
</s:customData>
</file>

<file path=customXml/itemProps79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4552</Words>
  <Application>WPS 演示</Application>
  <PresentationFormat>自定义</PresentationFormat>
  <Paragraphs>493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53" baseType="lpstr">
      <vt:lpstr>Arial</vt:lpstr>
      <vt:lpstr>宋体</vt:lpstr>
      <vt:lpstr>Wingdings</vt:lpstr>
      <vt:lpstr>Calibri</vt:lpstr>
      <vt:lpstr>Lucida Console</vt:lpstr>
      <vt:lpstr>微软雅黑</vt:lpstr>
      <vt:lpstr>黑体</vt:lpstr>
      <vt:lpstr>等线</vt:lpstr>
      <vt:lpstr>Times New Roman</vt:lpstr>
      <vt:lpstr>U.S. 101</vt:lpstr>
      <vt:lpstr>ksdb</vt:lpstr>
      <vt:lpstr>Roboto</vt:lpstr>
      <vt:lpstr>Open Sans Light</vt:lpstr>
      <vt:lpstr>楷体</vt:lpstr>
      <vt:lpstr>Arial Unicode MS</vt:lpstr>
      <vt:lpstr>Cambria Math</vt:lpstr>
      <vt:lpstr>MS Mincho</vt:lpstr>
      <vt:lpstr>Wingdings</vt:lpstr>
      <vt:lpstr>Courier New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彩色气泡</dc:title>
  <dc:creator>第一PPT</dc:creator>
  <cp:keywords>www.1ppt.com</cp:keywords>
  <cp:lastModifiedBy>xyko30156</cp:lastModifiedBy>
  <cp:revision>211</cp:revision>
  <dcterms:created xsi:type="dcterms:W3CDTF">2015-01-07T12:23:00Z</dcterms:created>
  <dcterms:modified xsi:type="dcterms:W3CDTF">2026-06-15T09:50:00Z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E8ABEE2B501A4675A7A6E3674B758BFB</vt:lpwstr>
  </property>
  <property fmtid="{D5CDD505-2E9C-101B-9397-08002B2CF9AE}" pid="3" name="KSOProductBuildVer">
    <vt:lpwstr>2052-12.1.0.26895</vt:lpwstr>
  </property>
</Properties>
</file>